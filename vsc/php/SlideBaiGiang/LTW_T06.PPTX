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3"/>
  </p:notesMasterIdLst>
  <p:handoutMasterIdLst>
    <p:handoutMasterId r:id="rId34"/>
  </p:handoutMasterIdLst>
  <p:sldIdLst>
    <p:sldId id="261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8" r:id="rId18"/>
    <p:sldId id="309" r:id="rId19"/>
    <p:sldId id="304" r:id="rId20"/>
    <p:sldId id="305" r:id="rId21"/>
    <p:sldId id="306" r:id="rId22"/>
    <p:sldId id="307" r:id="rId23"/>
    <p:sldId id="310" r:id="rId24"/>
    <p:sldId id="312" r:id="rId25"/>
    <p:sldId id="311" r:id="rId26"/>
    <p:sldId id="313" r:id="rId27"/>
    <p:sldId id="314" r:id="rId28"/>
    <p:sldId id="315" r:id="rId29"/>
    <p:sldId id="316" r:id="rId30"/>
    <p:sldId id="287" r:id="rId31"/>
    <p:sldId id="283" r:id="rId32"/>
  </p:sldIdLst>
  <p:sldSz cx="9144000" cy="6858000" type="screen4x3"/>
  <p:notesSz cx="6858000" cy="9144000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9" autoAdjust="0"/>
    <p:restoredTop sz="94680" autoAdjust="0"/>
  </p:normalViewPr>
  <p:slideViewPr>
    <p:cSldViewPr>
      <p:cViewPr varScale="1">
        <p:scale>
          <a:sx n="52" d="100"/>
          <a:sy n="52" d="100"/>
        </p:scale>
        <p:origin x="-115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238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5C2F9-B74E-4D1B-AFEF-D426918F8F51}" type="datetimeFigureOut">
              <a:rPr lang="en-US" smtClean="0"/>
              <a:pPr/>
              <a:t>25/04/2020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C6EA2-C8DC-4A42-8C4D-4A10FBE231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48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19546-7CE1-4A60-9279-BCADC0161DB1}" type="datetimeFigureOut">
              <a:rPr lang="en-US" smtClean="0"/>
              <a:pPr/>
              <a:t>25/04/2020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CFCD5-CD5E-46DE-A74D-45535A5495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3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5C27A-DE32-4507-866E-64E99F7B5EFD}" type="datetimeFigureOut">
              <a:rPr lang="en-US" smtClean="0"/>
              <a:pPr/>
              <a:t>25/04/2020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Inside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 descr="Outside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 userDrawn="1"/>
        </p:nvSpPr>
        <p:spPr>
          <a:xfrm>
            <a:off x="0" y="4191000"/>
            <a:ext cx="65532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PHP truyền và nhận dữ liệu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 userDrawn="1"/>
        </p:nvSpPr>
        <p:spPr bwMode="auto">
          <a:xfrm>
            <a:off x="-609600" y="1676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400" b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Lập</a:t>
            </a:r>
            <a:r>
              <a:rPr lang="de-DE" sz="4400" b="1" baseline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trình </a:t>
            </a:r>
            <a:r>
              <a:rPr lang="de-DE" sz="4400" b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WEB</a:t>
            </a:r>
            <a:endParaRPr kumimoji="0" lang="de-DE" sz="44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 userDrawn="1"/>
        </p:nvSpPr>
        <p:spPr>
          <a:xfrm>
            <a:off x="1828800" y="2362200"/>
            <a:ext cx="6027737" cy="904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Học Sài Gòn – Khoa CNTT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5C27A-DE32-4507-866E-64E99F7B5EFD}" type="datetimeFigureOut">
              <a:rPr lang="en-US" smtClean="0"/>
              <a:pPr/>
              <a:t>25/04/2020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Inside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 descr="Outside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 userDrawn="1"/>
        </p:nvSpPr>
        <p:spPr>
          <a:xfrm>
            <a:off x="0" y="4191000"/>
            <a:ext cx="65532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PHP truyền và nhận dữ liệu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 userDrawn="1"/>
        </p:nvSpPr>
        <p:spPr bwMode="auto">
          <a:xfrm>
            <a:off x="-609600" y="1676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400" b="1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Bài</a:t>
            </a:r>
            <a:r>
              <a:rPr lang="de-DE" sz="4400" b="1" baseline="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thực hành</a:t>
            </a:r>
            <a:endParaRPr kumimoji="0" lang="de-DE" sz="44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 userDrawn="1"/>
        </p:nvSpPr>
        <p:spPr>
          <a:xfrm>
            <a:off x="1828800" y="2362200"/>
            <a:ext cx="6027737" cy="904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Học Sài Gòn – Khoa CNTT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5C27A-DE32-4507-866E-64E99F7B5EFD}" type="datetimeFigureOut">
              <a:rPr lang="en-US" smtClean="0"/>
              <a:pPr/>
              <a:t>25/04/2020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Inside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 descr="End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 userDrawn="1"/>
        </p:nvSpPr>
        <p:spPr bwMode="auto">
          <a:xfrm>
            <a:off x="-152400" y="1676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5855805" y="641246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 userDrawn="1"/>
        </p:nvSpPr>
        <p:spPr>
          <a:xfrm>
            <a:off x="1143000" y="4191000"/>
            <a:ext cx="65532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5C27A-DE32-4507-866E-64E99F7B5EFD}" type="datetimeFigureOut">
              <a:rPr lang="en-US" smtClean="0"/>
              <a:pPr/>
              <a:t>25/04/2020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Outsid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 descr="Insid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9 – PHP – truyền và nhận dữ liệu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Footer Placeholder 3"/>
          <p:cNvSpPr txBox="1">
            <a:spLocks/>
          </p:cNvSpPr>
          <p:nvPr/>
        </p:nvSpPr>
        <p:spPr>
          <a:xfrm>
            <a:off x="8534400" y="6400800"/>
            <a:ext cx="762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88E9E-3654-4A97-8EA6-E567F42FEF58}" type="slidenum">
              <a:rPr kumimoji="0" lang="de-DE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4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domain/pathfile?fieldname1=value1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domain/pathfile?fieldname1=value1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domain/pathfile?fieldname1=value1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domain/pathfile?fieldname1=value1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T06/form.php" TargetMode="External"/><Relationship Id="rId2" Type="http://schemas.openxmlformats.org/officeDocument/2006/relationships/hyperlink" Target="http://localhost/T09/dangnhap.ph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vn2.php.net/manual/en/langref.php" TargetMode="External"/><Relationship Id="rId2" Type="http://schemas.openxmlformats.org/officeDocument/2006/relationships/hyperlink" Target="http://www.w3schools.com/php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vn2.php.net/manual/en/funcref.php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dung buổi học trước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609600"/>
            <a:ext cx="8686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err="1" smtClean="0">
                <a:latin typeface="Verdana" pitchFamily="34" charset="0"/>
              </a:rPr>
              <a:t>Giới</a:t>
            </a:r>
            <a:r>
              <a:rPr lang="en-US" sz="3600" smtClean="0">
                <a:latin typeface="Verdana" pitchFamily="34" charset="0"/>
              </a:rPr>
              <a:t> thiệu PHP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Cơ chế hoạt động của WebServer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Cú pháp và qui ước trong PHP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Ví dụ và thực hành PHP cơ bản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Chấm bài thi giữa kỳ.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Theo dõi tình hình làm Đồ Án.</a:t>
            </a:r>
            <a:endParaRPr lang="en-US" sz="36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dung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313" y="609600"/>
            <a:ext cx="9144000" cy="4135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Cơ chế truyền nhận dữ liệu.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Truyền nhận qua phương thức GET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Truyền nhận qua phương thức POST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Một số ví dụ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600" smtClean="0">
                <a:latin typeface="Verdana" pitchFamily="34" charset="0"/>
              </a:rPr>
              <a:t>Thực hành</a:t>
            </a:r>
            <a:endParaRPr lang="en-US" sz="36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Cơ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60960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smtClean="0">
                <a:latin typeface="Verdana" pitchFamily="34" charset="0"/>
              </a:rPr>
              <a:t>Web browser (client) gởi dữ liệu đến website thông qua các HTML Control (Form Field). </a:t>
            </a:r>
            <a:endParaRPr lang="en-US" sz="2400" dirty="0">
              <a:latin typeface="Verdana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13661" y="1883767"/>
            <a:ext cx="8534400" cy="4506458"/>
            <a:chOff x="609600" y="685800"/>
            <a:chExt cx="8289759" cy="5508486"/>
          </a:xfrm>
        </p:grpSpPr>
        <p:pic>
          <p:nvPicPr>
            <p:cNvPr id="5" name="Picture 4" descr="Php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5743575"/>
              <a:ext cx="6753225" cy="276225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grpSp>
          <p:nvGrpSpPr>
            <p:cNvPr id="6" name="Group 5"/>
            <p:cNvGrpSpPr/>
            <p:nvPr/>
          </p:nvGrpSpPr>
          <p:grpSpPr>
            <a:xfrm>
              <a:off x="609600" y="685800"/>
              <a:ext cx="8289759" cy="5508486"/>
              <a:chOff x="609600" y="685800"/>
              <a:chExt cx="8289759" cy="5508486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1058778" y="5486400"/>
                <a:ext cx="609600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:r>
                  <a:rPr lang="en-US" sz="4000" b="1" cap="none" spc="50" smtClean="0">
                    <a:ln w="11430"/>
                    <a:gradFill>
                      <a:gsLst>
                        <a:gs pos="25000">
                          <a:schemeClr val="accent2">
                            <a:satMod val="155000"/>
                          </a:schemeClr>
                        </a:gs>
                        <a:gs pos="100000">
                          <a:schemeClr val="accent2">
                            <a:shade val="45000"/>
                            <a:satMod val="165000"/>
                          </a:schemeClr>
                        </a:gs>
                      </a:gsLst>
                      <a:lin ang="5400000"/>
                    </a:gra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</a:rPr>
                  <a:t>1</a:t>
                </a:r>
                <a:endParaRPr lang="en-US" sz="4000" b="1" cap="none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  <p:pic>
            <p:nvPicPr>
              <p:cNvPr id="9" name="Picture 8" descr="php2.jp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85800" y="4114800"/>
                <a:ext cx="1838084" cy="1371600"/>
              </a:xfrm>
              <a:prstGeom prst="rect">
                <a:avLst/>
              </a:prstGeom>
            </p:spPr>
          </p:pic>
          <p:sp>
            <p:nvSpPr>
              <p:cNvPr id="10" name="Flowchart: Multidocument 9"/>
              <p:cNvSpPr/>
              <p:nvPr/>
            </p:nvSpPr>
            <p:spPr>
              <a:xfrm>
                <a:off x="609600" y="1066800"/>
                <a:ext cx="1981200" cy="1289538"/>
              </a:xfrm>
              <a:prstGeom prst="flowChartMultidocument">
                <a:avLst/>
              </a:prstGeom>
              <a:gradFill flip="none" rotWithShape="1">
                <a:gsLst>
                  <a:gs pos="100000">
                    <a:schemeClr val="accent3">
                      <a:lumMod val="20000"/>
                      <a:lumOff val="80000"/>
                      <a:alpha val="20000"/>
                    </a:schemeClr>
                  </a:gs>
                  <a:gs pos="50000">
                    <a:srgbClr val="9CB86E"/>
                  </a:gs>
                  <a:gs pos="100000">
                    <a:srgbClr val="156B13"/>
                  </a:gs>
                  <a:gs pos="100000">
                    <a:srgbClr val="156B13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Internet /</a:t>
                </a:r>
              </a:p>
              <a:p>
                <a:pPr algn="ctr"/>
                <a:r>
                  <a:rPr lang="en-US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Intranet </a:t>
                </a: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1" name="Flowchart: Magnetic Disk 10"/>
              <p:cNvSpPr/>
              <p:nvPr/>
            </p:nvSpPr>
            <p:spPr>
              <a:xfrm>
                <a:off x="6343650" y="4114800"/>
                <a:ext cx="1066800" cy="1219200"/>
              </a:xfrm>
              <a:prstGeom prst="flowChartMagneticDisk">
                <a:avLst/>
              </a:prstGeom>
              <a:gradFill flip="none" rotWithShape="1">
                <a:gsLst>
                  <a:gs pos="0">
                    <a:srgbClr val="FBEAC7"/>
                  </a:gs>
                  <a:gs pos="17999">
                    <a:srgbClr val="FEE7F2"/>
                  </a:gs>
                  <a:gs pos="36000">
                    <a:srgbClr val="FAC77D"/>
                  </a:gs>
                  <a:gs pos="61000">
                    <a:srgbClr val="FBA97D"/>
                  </a:gs>
                  <a:gs pos="82001">
                    <a:srgbClr val="FBD49C"/>
                  </a:gs>
                  <a:gs pos="100000">
                    <a:srgbClr val="FEE7F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outerShdw blurRad="25400" dist="139700" dir="19380000" algn="ctr" rotWithShape="0">
                  <a:schemeClr val="accent6">
                    <a:lumMod val="40000"/>
                    <a:lumOff val="60000"/>
                    <a:alpha val="8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mtClean="0">
                    <a:solidFill>
                      <a:schemeClr val="accent6">
                        <a:lumMod val="50000"/>
                      </a:schemeClr>
                    </a:solidFill>
                  </a:rPr>
                  <a:t>Database</a:t>
                </a:r>
              </a:p>
              <a:p>
                <a:pPr algn="ctr"/>
                <a:r>
                  <a:rPr lang="en-US" smtClean="0">
                    <a:solidFill>
                      <a:schemeClr val="accent6">
                        <a:lumMod val="50000"/>
                      </a:schemeClr>
                    </a:solidFill>
                  </a:rPr>
                  <a:t>Server</a:t>
                </a:r>
                <a:endParaRPr 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Flowchart: Magnetic Disk 11"/>
              <p:cNvSpPr/>
              <p:nvPr/>
            </p:nvSpPr>
            <p:spPr>
              <a:xfrm>
                <a:off x="7639050" y="4114800"/>
                <a:ext cx="1066800" cy="1219200"/>
              </a:xfrm>
              <a:prstGeom prst="flowChartMagneticDisk">
                <a:avLst/>
              </a:prstGeom>
              <a:gradFill flip="none" rotWithShape="1">
                <a:gsLst>
                  <a:gs pos="0">
                    <a:srgbClr val="8488C4"/>
                  </a:gs>
                  <a:gs pos="53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solidFill>
                  <a:srgbClr val="0070C0"/>
                </a:solidFill>
              </a:ln>
              <a:effectLst>
                <a:outerShdw blurRad="88900" dist="76200" dir="21540000" sx="106000" sy="106000" algn="ctr" rotWithShape="0">
                  <a:srgbClr val="000000">
                    <a:alpha val="34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mtClean="0">
                    <a:solidFill>
                      <a:srgbClr val="0070C0"/>
                    </a:solidFill>
                  </a:rPr>
                  <a:t>Disk</a:t>
                </a:r>
              </a:p>
              <a:p>
                <a:pPr algn="ctr"/>
                <a:r>
                  <a:rPr lang="en-US" smtClean="0">
                    <a:solidFill>
                      <a:srgbClr val="0070C0"/>
                    </a:solidFill>
                  </a:rPr>
                  <a:t>Driver</a:t>
                </a:r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13" name="Flowchart: Process 12"/>
              <p:cNvSpPr/>
              <p:nvPr/>
            </p:nvSpPr>
            <p:spPr>
              <a:xfrm>
                <a:off x="6553200" y="838200"/>
                <a:ext cx="1981200" cy="2362200"/>
              </a:xfrm>
              <a:prstGeom prst="flowChartProcess">
                <a:avLst/>
              </a:prstGeom>
              <a:gradFill>
                <a:gsLst>
                  <a:gs pos="100000">
                    <a:schemeClr val="accent3">
                      <a:lumMod val="20000"/>
                      <a:lumOff val="80000"/>
                      <a:alpha val="20000"/>
                    </a:schemeClr>
                  </a:gs>
                  <a:gs pos="50000">
                    <a:srgbClr val="9CB86E"/>
                  </a:gs>
                  <a:gs pos="100000">
                    <a:srgbClr val="156B13"/>
                  </a:gs>
                  <a:gs pos="100000">
                    <a:srgbClr val="156B13"/>
                  </a:gs>
                </a:gsLst>
                <a:lin ang="2700000" scaled="1"/>
              </a:gradFill>
              <a:ln>
                <a:solidFill>
                  <a:srgbClr val="00B050"/>
                </a:solidFill>
              </a:ln>
              <a:effectLst>
                <a:outerShdw blurRad="50800" dist="50800" dir="5400000" algn="ctr" rotWithShape="0">
                  <a:schemeClr val="accent3">
                    <a:lumMod val="40000"/>
                    <a:lumOff val="6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mtClean="0">
                    <a:solidFill>
                      <a:srgbClr val="336600"/>
                    </a:solidFill>
                  </a:rPr>
                  <a:t>Apache / IIS</a:t>
                </a:r>
                <a:endParaRPr lang="en-US">
                  <a:solidFill>
                    <a:srgbClr val="336600"/>
                  </a:solidFill>
                </a:endParaRPr>
              </a:p>
            </p:txBody>
          </p:sp>
          <p:sp>
            <p:nvSpPr>
              <p:cNvPr id="14" name="Flowchart: Process 13"/>
              <p:cNvSpPr/>
              <p:nvPr/>
            </p:nvSpPr>
            <p:spPr>
              <a:xfrm>
                <a:off x="6546110" y="2514600"/>
                <a:ext cx="1981200" cy="685800"/>
              </a:xfrm>
              <a:prstGeom prst="flowChartProcess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B050"/>
                </a:solidFill>
              </a:ln>
              <a:effectLst>
                <a:outerShdw blurRad="50800" dist="25400" dir="5400000" algn="ctr" rotWithShape="0">
                  <a:srgbClr val="00B050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smtClean="0">
                    <a:solidFill>
                      <a:srgbClr val="336600"/>
                    </a:solidFill>
                  </a:rPr>
                  <a:t>Server-side-script</a:t>
                </a:r>
              </a:p>
              <a:p>
                <a:pPr algn="ctr"/>
                <a:r>
                  <a:rPr lang="en-US" sz="1600" smtClean="0">
                    <a:solidFill>
                      <a:srgbClr val="336600"/>
                    </a:solidFill>
                  </a:rPr>
                  <a:t>Parser (PHP, ASP,…)</a:t>
                </a:r>
                <a:endParaRPr lang="en-US" sz="160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685800" y="4800600"/>
                <a:ext cx="18288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smtClean="0">
                    <a:solidFill>
                      <a:srgbClr val="C00000"/>
                    </a:solidFill>
                  </a:rPr>
                  <a:t>Web Browser</a:t>
                </a:r>
                <a:endParaRPr lang="en-US" b="1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16" name="Group 84"/>
              <p:cNvGrpSpPr/>
              <p:nvPr/>
            </p:nvGrpSpPr>
            <p:grpSpPr>
              <a:xfrm>
                <a:off x="3581400" y="685800"/>
                <a:ext cx="2133600" cy="1957864"/>
                <a:chOff x="3581400" y="685800"/>
                <a:chExt cx="2133600" cy="1957864"/>
              </a:xfrm>
            </p:grpSpPr>
            <p:pic>
              <p:nvPicPr>
                <p:cNvPr id="34" name="Picture 33" descr="php3.jpg"/>
                <p:cNvPicPr>
                  <a:picLocks noChangeAspect="1"/>
                </p:cNvPicPr>
                <p:nvPr/>
              </p:nvPicPr>
              <p:blipFill>
                <a:blip r:embed="rId4"/>
                <a:srcRect r="49598"/>
                <a:stretch>
                  <a:fillRect/>
                </a:stretch>
              </p:blipFill>
              <p:spPr>
                <a:xfrm>
                  <a:off x="4038600" y="978932"/>
                  <a:ext cx="1066800" cy="1295400"/>
                </a:xfrm>
                <a:prstGeom prst="rect">
                  <a:avLst/>
                </a:prstGeom>
              </p:spPr>
            </p:pic>
            <p:sp>
              <p:nvSpPr>
                <p:cNvPr id="35" name="Rectangle 34"/>
                <p:cNvSpPr/>
                <p:nvPr/>
              </p:nvSpPr>
              <p:spPr>
                <a:xfrm>
                  <a:off x="3657600" y="2274332"/>
                  <a:ext cx="160020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mtClean="0"/>
                    <a:t>Webserver</a:t>
                  </a: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3581400" y="685800"/>
                  <a:ext cx="213360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mtClean="0"/>
                    <a:t>www.example.com</a:t>
                  </a:r>
                  <a:endParaRPr lang="en-US"/>
                </a:p>
              </p:txBody>
            </p:sp>
          </p:grpSp>
          <p:cxnSp>
            <p:nvCxnSpPr>
              <p:cNvPr id="17" name="Elbow Connector 16"/>
              <p:cNvCxnSpPr/>
              <p:nvPr/>
            </p:nvCxnSpPr>
            <p:spPr>
              <a:xfrm rot="5400000" flipH="1" flipV="1">
                <a:off x="6515100" y="3771900"/>
                <a:ext cx="1143000" cy="158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33660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Elbow Connector 17"/>
              <p:cNvCxnSpPr/>
              <p:nvPr/>
            </p:nvCxnSpPr>
            <p:spPr>
              <a:xfrm rot="10800000">
                <a:off x="2590800" y="1828800"/>
                <a:ext cx="1676400" cy="158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33660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Elbow Connector 18"/>
              <p:cNvCxnSpPr/>
              <p:nvPr/>
            </p:nvCxnSpPr>
            <p:spPr>
              <a:xfrm>
                <a:off x="2590800" y="1447800"/>
                <a:ext cx="1523206" cy="158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336600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Elbow Connector 19"/>
              <p:cNvCxnSpPr/>
              <p:nvPr/>
            </p:nvCxnSpPr>
            <p:spPr>
              <a:xfrm rot="5400000" flipH="1" flipV="1">
                <a:off x="7458076" y="3800476"/>
                <a:ext cx="1085848" cy="158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33660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/>
              <p:nvPr/>
            </p:nvCxnSpPr>
            <p:spPr>
              <a:xfrm rot="5400000" flipH="1" flipV="1">
                <a:off x="315119" y="3285331"/>
                <a:ext cx="1809750" cy="158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33660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21"/>
              <p:cNvCxnSpPr/>
              <p:nvPr/>
            </p:nvCxnSpPr>
            <p:spPr>
              <a:xfrm rot="5400000">
                <a:off x="800894" y="3162300"/>
                <a:ext cx="1904206" cy="794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33660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/>
              <p:nvPr/>
            </p:nvCxnSpPr>
            <p:spPr>
              <a:xfrm>
                <a:off x="4953000" y="1390650"/>
                <a:ext cx="3429000" cy="1200150"/>
              </a:xfrm>
              <a:prstGeom prst="bentConnector3">
                <a:avLst>
                  <a:gd name="adj1" fmla="val 99855"/>
                </a:avLst>
              </a:prstGeom>
              <a:ln w="25400">
                <a:solidFill>
                  <a:srgbClr val="33660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23"/>
              <p:cNvCxnSpPr/>
              <p:nvPr/>
            </p:nvCxnSpPr>
            <p:spPr>
              <a:xfrm rot="5400000">
                <a:off x="7810501" y="3771900"/>
                <a:ext cx="1142999" cy="158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33660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Elbow Connector 24"/>
              <p:cNvCxnSpPr/>
              <p:nvPr/>
            </p:nvCxnSpPr>
            <p:spPr>
              <a:xfrm>
                <a:off x="5029200" y="1828800"/>
                <a:ext cx="2057400" cy="762000"/>
              </a:xfrm>
              <a:prstGeom prst="bentConnector3">
                <a:avLst>
                  <a:gd name="adj1" fmla="val 99855"/>
                </a:avLst>
              </a:prstGeom>
              <a:ln w="25400">
                <a:solidFill>
                  <a:srgbClr val="336600"/>
                </a:solidFill>
                <a:prstDash val="sysDot"/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Elbow Connector 25"/>
              <p:cNvCxnSpPr/>
              <p:nvPr/>
            </p:nvCxnSpPr>
            <p:spPr>
              <a:xfrm rot="5400000">
                <a:off x="6134100" y="3771900"/>
                <a:ext cx="1143000" cy="158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rgbClr val="33660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/>
              <p:cNvSpPr/>
              <p:nvPr/>
            </p:nvSpPr>
            <p:spPr>
              <a:xfrm>
                <a:off x="8001000" y="1044714"/>
                <a:ext cx="609600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:r>
                  <a:rPr lang="en-US" sz="4000" b="1" cap="none" spc="50" smtClean="0">
                    <a:ln w="11430"/>
                    <a:gradFill>
                      <a:gsLst>
                        <a:gs pos="25000">
                          <a:schemeClr val="accent2">
                            <a:satMod val="155000"/>
                          </a:schemeClr>
                        </a:gs>
                        <a:gs pos="100000">
                          <a:schemeClr val="accent2">
                            <a:shade val="45000"/>
                            <a:satMod val="165000"/>
                          </a:schemeClr>
                        </a:gs>
                      </a:gsLst>
                      <a:lin ang="5400000"/>
                    </a:gra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</a:rPr>
                  <a:t>3</a:t>
                </a:r>
                <a:endParaRPr lang="en-US" sz="4000" b="1" cap="none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914400" y="2895600"/>
                <a:ext cx="609600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:r>
                  <a:rPr lang="en-US" sz="4000" b="1" cap="none" spc="50" smtClean="0">
                    <a:ln w="11430"/>
                    <a:gradFill>
                      <a:gsLst>
                        <a:gs pos="25000">
                          <a:schemeClr val="accent2">
                            <a:satMod val="155000"/>
                          </a:schemeClr>
                        </a:gs>
                        <a:gs pos="100000">
                          <a:schemeClr val="accent2">
                            <a:shade val="45000"/>
                            <a:satMod val="165000"/>
                          </a:schemeClr>
                        </a:gs>
                      </a:gsLst>
                      <a:lin ang="5400000"/>
                    </a:gra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</a:rPr>
                  <a:t>2</a:t>
                </a:r>
                <a:endParaRPr lang="en-US" sz="4000" b="1" cap="none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8289759" y="3296652"/>
                <a:ext cx="609600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:r>
                  <a:rPr lang="en-US" sz="4000" b="1" spc="50" smtClean="0">
                    <a:ln w="11430"/>
                    <a:gradFill>
                      <a:gsLst>
                        <a:gs pos="25000">
                          <a:schemeClr val="accent2">
                            <a:satMod val="155000"/>
                          </a:schemeClr>
                        </a:gs>
                        <a:gs pos="100000">
                          <a:schemeClr val="accent2">
                            <a:shade val="45000"/>
                            <a:satMod val="165000"/>
                          </a:schemeClr>
                        </a:gs>
                      </a:gsLst>
                      <a:lin ang="5400000"/>
                    </a:gra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</a:rPr>
                  <a:t>4</a:t>
                </a:r>
                <a:endParaRPr lang="en-US" sz="4000" b="1" cap="none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6277476" y="3372852"/>
                <a:ext cx="609600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:r>
                  <a:rPr lang="en-US" sz="4000" b="1" cap="none" spc="50" smtClean="0">
                    <a:ln w="11430"/>
                    <a:gradFill>
                      <a:gsLst>
                        <a:gs pos="25000">
                          <a:schemeClr val="accent2">
                            <a:satMod val="155000"/>
                          </a:schemeClr>
                        </a:gs>
                        <a:gs pos="100000">
                          <a:schemeClr val="accent2">
                            <a:shade val="45000"/>
                            <a:satMod val="165000"/>
                          </a:schemeClr>
                        </a:gs>
                      </a:gsLst>
                      <a:lin ang="5400000"/>
                    </a:gra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</a:rPr>
                  <a:t>5</a:t>
                </a:r>
                <a:endParaRPr lang="en-US" sz="4000" b="1" cap="none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6781800" y="1600200"/>
                <a:ext cx="609600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:r>
                  <a:rPr lang="en-US" sz="4000" b="1" cap="none" spc="50" smtClean="0">
                    <a:ln w="11430"/>
                    <a:gradFill>
                      <a:gsLst>
                        <a:gs pos="25000">
                          <a:schemeClr val="accent2">
                            <a:satMod val="155000"/>
                          </a:schemeClr>
                        </a:gs>
                        <a:gs pos="100000">
                          <a:schemeClr val="accent2">
                            <a:shade val="45000"/>
                            <a:satMod val="165000"/>
                          </a:schemeClr>
                        </a:gs>
                      </a:gsLst>
                      <a:lin ang="5400000"/>
                    </a:gra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</a:rPr>
                  <a:t>6</a:t>
                </a:r>
                <a:endParaRPr lang="en-US" sz="4000" b="1" cap="none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124200" y="1600200"/>
                <a:ext cx="609600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:r>
                  <a:rPr lang="en-US" sz="4000" b="1" cap="none" spc="50" smtClean="0">
                    <a:ln w="11430"/>
                    <a:gradFill>
                      <a:gsLst>
                        <a:gs pos="25000">
                          <a:schemeClr val="accent2">
                            <a:satMod val="155000"/>
                          </a:schemeClr>
                        </a:gs>
                        <a:gs pos="100000">
                          <a:schemeClr val="accent2">
                            <a:shade val="45000"/>
                            <a:satMod val="165000"/>
                          </a:schemeClr>
                        </a:gs>
                      </a:gsLst>
                      <a:lin ang="5400000"/>
                    </a:gra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</a:rPr>
                  <a:t>7</a:t>
                </a:r>
                <a:endParaRPr lang="en-US" sz="4000" b="1" cap="none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1315452" y="4267200"/>
                <a:ext cx="609600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:r>
                  <a:rPr lang="en-US" sz="4000" b="1" cap="none" spc="50" smtClean="0">
                    <a:ln w="11430"/>
                    <a:gradFill>
                      <a:gsLst>
                        <a:gs pos="25000">
                          <a:schemeClr val="accent2">
                            <a:satMod val="155000"/>
                          </a:schemeClr>
                        </a:gs>
                        <a:gs pos="100000">
                          <a:schemeClr val="accent2">
                            <a:shade val="45000"/>
                            <a:satMod val="165000"/>
                          </a:schemeClr>
                        </a:gs>
                      </a:gsLst>
                      <a:lin ang="5400000"/>
                    </a:gra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</a:rPr>
                  <a:t>8</a:t>
                </a:r>
                <a:endParaRPr lang="en-US" sz="4000" b="1" cap="none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60960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smtClean="0">
                <a:latin typeface="Verdana" pitchFamily="34" charset="0"/>
              </a:rPr>
              <a:t>Web server nhận và xử lý dữ liệu và trả kết quả cho client.</a:t>
            </a:r>
            <a:endParaRPr lang="en-US" sz="2400" dirty="0">
              <a:latin typeface="Verdana" pitchFamily="34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228600" y="2286001"/>
            <a:ext cx="8601902" cy="2416900"/>
            <a:chOff x="457200" y="2562679"/>
            <a:chExt cx="8296941" cy="1676066"/>
          </a:xfrm>
        </p:grpSpPr>
        <p:pic>
          <p:nvPicPr>
            <p:cNvPr id="34" name="Picture 33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79737"/>
              <a:ext cx="1892328" cy="1203267"/>
            </a:xfrm>
            <a:prstGeom prst="rect">
              <a:avLst/>
            </a:prstGeom>
          </p:spPr>
        </p:pic>
        <p:sp>
          <p:nvSpPr>
            <p:cNvPr id="35" name="Flowchart: Multidocument 34"/>
            <p:cNvSpPr/>
            <p:nvPr/>
          </p:nvSpPr>
          <p:spPr>
            <a:xfrm>
              <a:off x="3657600" y="3037107"/>
              <a:ext cx="1887268" cy="1054963"/>
            </a:xfrm>
            <a:prstGeom prst="flowChartMultidocument">
              <a:avLst/>
            </a:prstGeom>
            <a:gradFill flip="none" rotWithShape="1">
              <a:gsLst>
                <a:gs pos="100000">
                  <a:schemeClr val="accent3">
                    <a:lumMod val="20000"/>
                    <a:lumOff val="80000"/>
                    <a:alpha val="20000"/>
                  </a:schemeClr>
                </a:gs>
                <a:gs pos="50000">
                  <a:srgbClr val="9CB86E"/>
                </a:gs>
                <a:gs pos="100000">
                  <a:srgbClr val="156B13"/>
                </a:gs>
                <a:gs pos="100000">
                  <a:srgbClr val="156B13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Internet /</a:t>
              </a:r>
            </a:p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Intranet 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30699" y="2562679"/>
              <a:ext cx="1882770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smtClean="0">
                  <a:solidFill>
                    <a:srgbClr val="C00000"/>
                  </a:solidFill>
                </a:rPr>
                <a:t>Web Browser</a:t>
              </a:r>
              <a:endParaRPr lang="en-US" b="1">
                <a:solidFill>
                  <a:srgbClr val="C00000"/>
                </a:solidFill>
              </a:endParaRPr>
            </a:p>
          </p:txBody>
        </p:sp>
        <p:pic>
          <p:nvPicPr>
            <p:cNvPr id="37" name="Picture 36" descr="php3.jpg"/>
            <p:cNvPicPr>
              <a:picLocks noChangeAspect="1"/>
            </p:cNvPicPr>
            <p:nvPr/>
          </p:nvPicPr>
          <p:blipFill>
            <a:blip r:embed="rId3"/>
            <a:srcRect r="49598"/>
            <a:stretch>
              <a:fillRect/>
            </a:stretch>
          </p:blipFill>
          <p:spPr>
            <a:xfrm>
              <a:off x="7097844" y="2891748"/>
              <a:ext cx="1098283" cy="1059758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6851570" y="3936597"/>
              <a:ext cx="1647424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Webserver</a:t>
              </a:r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557576" y="2562679"/>
              <a:ext cx="2196565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www.example.com</a:t>
              </a:r>
              <a:endParaRPr lang="en-US"/>
            </a:p>
          </p:txBody>
        </p:sp>
        <p:cxnSp>
          <p:nvCxnSpPr>
            <p:cNvPr id="40" name="Elbow Connector 39"/>
            <p:cNvCxnSpPr/>
            <p:nvPr/>
          </p:nvCxnSpPr>
          <p:spPr>
            <a:xfrm rot="10800000">
              <a:off x="5544868" y="3660494"/>
              <a:ext cx="1725873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/>
            <p:cNvCxnSpPr/>
            <p:nvPr/>
          </p:nvCxnSpPr>
          <p:spPr>
            <a:xfrm>
              <a:off x="5544868" y="3348800"/>
              <a:ext cx="1568158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/>
            <p:cNvCxnSpPr/>
            <p:nvPr/>
          </p:nvCxnSpPr>
          <p:spPr>
            <a:xfrm rot="10800000">
              <a:off x="2362200" y="3722907"/>
              <a:ext cx="1295400" cy="158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2590800" y="2960907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2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094009" y="3473478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7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04197" y="3249638"/>
              <a:ext cx="1524000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a.php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48" name="Elbow Connector 47"/>
            <p:cNvCxnSpPr/>
            <p:nvPr/>
          </p:nvCxnSpPr>
          <p:spPr>
            <a:xfrm>
              <a:off x="2286000" y="3396333"/>
              <a:ext cx="1447800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Subtitle 5"/>
            <p:cNvSpPr txBox="1">
              <a:spLocks/>
            </p:cNvSpPr>
            <p:nvPr/>
          </p:nvSpPr>
          <p:spPr>
            <a:xfrm>
              <a:off x="2735654" y="2774051"/>
              <a:ext cx="3200400" cy="299830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 w="19050" cmpd="dbl">
              <a:solidFill>
                <a:srgbClr val="C00000"/>
              </a:solidFill>
            </a:ln>
          </p:spPr>
          <p:txBody>
            <a:bodyPr tIns="0">
              <a:normAutofit lnSpcReduction="10000"/>
            </a:bodyPr>
            <a:lstStyle/>
            <a:p>
              <a:pPr marL="27432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2"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Yêu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cầu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trang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b.php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228600" y="2286001"/>
            <a:ext cx="8828316" cy="2416900"/>
            <a:chOff x="457200" y="2562679"/>
            <a:chExt cx="8515329" cy="1676066"/>
          </a:xfrm>
        </p:grpSpPr>
        <p:pic>
          <p:nvPicPr>
            <p:cNvPr id="64" name="Picture 63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79737"/>
              <a:ext cx="1892328" cy="1203267"/>
            </a:xfrm>
            <a:prstGeom prst="rect">
              <a:avLst/>
            </a:prstGeom>
          </p:spPr>
        </p:pic>
        <p:sp>
          <p:nvSpPr>
            <p:cNvPr id="65" name="Flowchart: Multidocument 64"/>
            <p:cNvSpPr/>
            <p:nvPr/>
          </p:nvSpPr>
          <p:spPr>
            <a:xfrm>
              <a:off x="3657600" y="3037107"/>
              <a:ext cx="1887268" cy="1054963"/>
            </a:xfrm>
            <a:prstGeom prst="flowChartMultidocument">
              <a:avLst/>
            </a:prstGeom>
            <a:gradFill flip="none" rotWithShape="1">
              <a:gsLst>
                <a:gs pos="100000">
                  <a:schemeClr val="accent3">
                    <a:lumMod val="20000"/>
                    <a:lumOff val="80000"/>
                    <a:alpha val="20000"/>
                  </a:schemeClr>
                </a:gs>
                <a:gs pos="50000">
                  <a:srgbClr val="9CB86E"/>
                </a:gs>
                <a:gs pos="100000">
                  <a:srgbClr val="156B13"/>
                </a:gs>
                <a:gs pos="100000">
                  <a:srgbClr val="156B13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Internet /</a:t>
              </a:r>
            </a:p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Intranet 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0699" y="2562679"/>
              <a:ext cx="1882770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smtClean="0">
                  <a:solidFill>
                    <a:srgbClr val="C00000"/>
                  </a:solidFill>
                </a:rPr>
                <a:t>Web Browser</a:t>
              </a:r>
              <a:endParaRPr lang="en-US" b="1">
                <a:solidFill>
                  <a:srgbClr val="C00000"/>
                </a:solidFill>
              </a:endParaRPr>
            </a:p>
          </p:txBody>
        </p:sp>
        <p:pic>
          <p:nvPicPr>
            <p:cNvPr id="67" name="Picture 66" descr="php3.jpg"/>
            <p:cNvPicPr>
              <a:picLocks noChangeAspect="1"/>
            </p:cNvPicPr>
            <p:nvPr/>
          </p:nvPicPr>
          <p:blipFill>
            <a:blip r:embed="rId3"/>
            <a:srcRect r="49598"/>
            <a:stretch>
              <a:fillRect/>
            </a:stretch>
          </p:blipFill>
          <p:spPr>
            <a:xfrm>
              <a:off x="7097844" y="2891748"/>
              <a:ext cx="1098283" cy="1059758"/>
            </a:xfrm>
            <a:prstGeom prst="rect">
              <a:avLst/>
            </a:prstGeom>
          </p:spPr>
        </p:pic>
        <p:sp>
          <p:nvSpPr>
            <p:cNvPr id="68" name="Rectangle 67"/>
            <p:cNvSpPr/>
            <p:nvPr/>
          </p:nvSpPr>
          <p:spPr>
            <a:xfrm>
              <a:off x="6851570" y="3936597"/>
              <a:ext cx="1647424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Webserver</a:t>
              </a:r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557576" y="2562679"/>
              <a:ext cx="2196565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www.example.com</a:t>
              </a:r>
              <a:endParaRPr lang="en-US"/>
            </a:p>
          </p:txBody>
        </p:sp>
        <p:cxnSp>
          <p:nvCxnSpPr>
            <p:cNvPr id="70" name="Elbow Connector 69"/>
            <p:cNvCxnSpPr/>
            <p:nvPr/>
          </p:nvCxnSpPr>
          <p:spPr>
            <a:xfrm rot="10800000">
              <a:off x="5544868" y="3660494"/>
              <a:ext cx="1725873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5544868" y="3348800"/>
              <a:ext cx="1568158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/>
            <p:nvPr/>
          </p:nvCxnSpPr>
          <p:spPr>
            <a:xfrm rot="10800000">
              <a:off x="2362200" y="3722907"/>
              <a:ext cx="1295400" cy="158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2590800" y="2960907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2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094009" y="3473478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7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04197" y="3249638"/>
              <a:ext cx="1524000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a.php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76" name="Elbow Connector 75"/>
            <p:cNvCxnSpPr/>
            <p:nvPr/>
          </p:nvCxnSpPr>
          <p:spPr>
            <a:xfrm>
              <a:off x="2286000" y="3396333"/>
              <a:ext cx="1447800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Subtitle 5"/>
            <p:cNvSpPr txBox="1">
              <a:spLocks/>
            </p:cNvSpPr>
            <p:nvPr/>
          </p:nvSpPr>
          <p:spPr>
            <a:xfrm>
              <a:off x="5772129" y="3226985"/>
              <a:ext cx="3200400" cy="299830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 w="19050" cmpd="dbl">
              <a:solidFill>
                <a:srgbClr val="C00000"/>
              </a:solidFill>
            </a:ln>
          </p:spPr>
          <p:txBody>
            <a:bodyPr tIns="0">
              <a:normAutofit lnSpcReduction="10000"/>
            </a:bodyPr>
            <a:lstStyle/>
            <a:p>
              <a:pPr marL="27432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2"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Yêu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cầu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trang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b.php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228600" y="2286001"/>
            <a:ext cx="8601901" cy="2416900"/>
            <a:chOff x="457200" y="2562679"/>
            <a:chExt cx="8296941" cy="1676066"/>
          </a:xfrm>
        </p:grpSpPr>
        <p:pic>
          <p:nvPicPr>
            <p:cNvPr id="65" name="Picture 64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79737"/>
              <a:ext cx="1892328" cy="1203267"/>
            </a:xfrm>
            <a:prstGeom prst="rect">
              <a:avLst/>
            </a:prstGeom>
          </p:spPr>
        </p:pic>
        <p:sp>
          <p:nvSpPr>
            <p:cNvPr id="66" name="Flowchart: Multidocument 65"/>
            <p:cNvSpPr/>
            <p:nvPr/>
          </p:nvSpPr>
          <p:spPr>
            <a:xfrm>
              <a:off x="3657600" y="3037107"/>
              <a:ext cx="1887268" cy="1054963"/>
            </a:xfrm>
            <a:prstGeom prst="flowChartMultidocument">
              <a:avLst/>
            </a:prstGeom>
            <a:gradFill flip="none" rotWithShape="1">
              <a:gsLst>
                <a:gs pos="100000">
                  <a:schemeClr val="accent3">
                    <a:lumMod val="20000"/>
                    <a:lumOff val="80000"/>
                    <a:alpha val="20000"/>
                  </a:schemeClr>
                </a:gs>
                <a:gs pos="50000">
                  <a:srgbClr val="9CB86E"/>
                </a:gs>
                <a:gs pos="100000">
                  <a:srgbClr val="156B13"/>
                </a:gs>
                <a:gs pos="100000">
                  <a:srgbClr val="156B13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Internet /</a:t>
              </a:r>
            </a:p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Intranet 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0699" y="2562679"/>
              <a:ext cx="1882770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smtClean="0">
                  <a:solidFill>
                    <a:srgbClr val="C00000"/>
                  </a:solidFill>
                </a:rPr>
                <a:t>Web Browser</a:t>
              </a:r>
              <a:endParaRPr lang="en-US" b="1">
                <a:solidFill>
                  <a:srgbClr val="C00000"/>
                </a:solidFill>
              </a:endParaRPr>
            </a:p>
          </p:txBody>
        </p:sp>
        <p:pic>
          <p:nvPicPr>
            <p:cNvPr id="68" name="Picture 67" descr="php3.jpg"/>
            <p:cNvPicPr>
              <a:picLocks noChangeAspect="1"/>
            </p:cNvPicPr>
            <p:nvPr/>
          </p:nvPicPr>
          <p:blipFill>
            <a:blip r:embed="rId3"/>
            <a:srcRect r="49598"/>
            <a:stretch>
              <a:fillRect/>
            </a:stretch>
          </p:blipFill>
          <p:spPr>
            <a:xfrm>
              <a:off x="7097844" y="2891748"/>
              <a:ext cx="1098283" cy="1059758"/>
            </a:xfrm>
            <a:prstGeom prst="rect">
              <a:avLst/>
            </a:prstGeom>
          </p:spPr>
        </p:pic>
        <p:sp>
          <p:nvSpPr>
            <p:cNvPr id="69" name="Rectangle 68"/>
            <p:cNvSpPr/>
            <p:nvPr/>
          </p:nvSpPr>
          <p:spPr>
            <a:xfrm>
              <a:off x="6851570" y="3936597"/>
              <a:ext cx="1647424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Webserver</a:t>
              </a:r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557576" y="2562679"/>
              <a:ext cx="2196565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www.example.com</a:t>
              </a:r>
              <a:endParaRPr lang="en-US"/>
            </a:p>
          </p:txBody>
        </p:sp>
        <p:cxnSp>
          <p:nvCxnSpPr>
            <p:cNvPr id="71" name="Elbow Connector 70"/>
            <p:cNvCxnSpPr/>
            <p:nvPr/>
          </p:nvCxnSpPr>
          <p:spPr>
            <a:xfrm rot="10800000">
              <a:off x="5544868" y="3660494"/>
              <a:ext cx="1725873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/>
            <p:nvPr/>
          </p:nvCxnSpPr>
          <p:spPr>
            <a:xfrm>
              <a:off x="5544868" y="3348800"/>
              <a:ext cx="1568158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 rot="10800000">
              <a:off x="2362200" y="3722907"/>
              <a:ext cx="1295400" cy="158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/>
            <p:cNvSpPr/>
            <p:nvPr/>
          </p:nvSpPr>
          <p:spPr>
            <a:xfrm>
              <a:off x="2590800" y="2960907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2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094009" y="3473478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7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04197" y="3249638"/>
              <a:ext cx="1524000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a.php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77" name="Elbow Connector 76"/>
            <p:cNvCxnSpPr/>
            <p:nvPr/>
          </p:nvCxnSpPr>
          <p:spPr>
            <a:xfrm>
              <a:off x="2286000" y="3396333"/>
              <a:ext cx="1447800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9" name="Picture 78" descr="php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99513" y="3080643"/>
            <a:ext cx="1464695" cy="99060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6999513" y="3309245"/>
            <a:ext cx="1371600" cy="584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</a:t>
            </a:r>
            <a:r>
              <a:rPr lang="en-US" sz="32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32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228600" y="761999"/>
            <a:ext cx="8601901" cy="3944920"/>
            <a:chOff x="457200" y="1505818"/>
            <a:chExt cx="8296941" cy="2735714"/>
          </a:xfrm>
        </p:grpSpPr>
        <p:pic>
          <p:nvPicPr>
            <p:cNvPr id="38" name="Picture 37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79737"/>
              <a:ext cx="1892328" cy="1203267"/>
            </a:xfrm>
            <a:prstGeom prst="rect">
              <a:avLst/>
            </a:prstGeom>
          </p:spPr>
        </p:pic>
        <p:sp>
          <p:nvSpPr>
            <p:cNvPr id="39" name="Flowchart: Multidocument 38"/>
            <p:cNvSpPr/>
            <p:nvPr/>
          </p:nvSpPr>
          <p:spPr>
            <a:xfrm>
              <a:off x="3657600" y="3037107"/>
              <a:ext cx="1887268" cy="1054963"/>
            </a:xfrm>
            <a:prstGeom prst="flowChartMultidocument">
              <a:avLst/>
            </a:prstGeom>
            <a:gradFill flip="none" rotWithShape="1">
              <a:gsLst>
                <a:gs pos="100000">
                  <a:schemeClr val="accent3">
                    <a:lumMod val="20000"/>
                    <a:lumOff val="80000"/>
                    <a:alpha val="20000"/>
                  </a:schemeClr>
                </a:gs>
                <a:gs pos="50000">
                  <a:srgbClr val="9CB86E"/>
                </a:gs>
                <a:gs pos="100000">
                  <a:srgbClr val="156B13"/>
                </a:gs>
                <a:gs pos="100000">
                  <a:srgbClr val="156B13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Internet /</a:t>
              </a:r>
            </a:p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Intranet 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30699" y="2562679"/>
              <a:ext cx="1882770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smtClean="0">
                  <a:solidFill>
                    <a:srgbClr val="C00000"/>
                  </a:solidFill>
                </a:rPr>
                <a:t>Web Browser</a:t>
              </a:r>
              <a:endParaRPr lang="en-US" b="1">
                <a:solidFill>
                  <a:srgbClr val="C00000"/>
                </a:solidFill>
              </a:endParaRPr>
            </a:p>
          </p:txBody>
        </p:sp>
        <p:pic>
          <p:nvPicPr>
            <p:cNvPr id="41" name="Picture 40" descr="php3.jpg"/>
            <p:cNvPicPr>
              <a:picLocks noChangeAspect="1"/>
            </p:cNvPicPr>
            <p:nvPr/>
          </p:nvPicPr>
          <p:blipFill>
            <a:blip r:embed="rId3"/>
            <a:srcRect r="49598"/>
            <a:stretch>
              <a:fillRect/>
            </a:stretch>
          </p:blipFill>
          <p:spPr>
            <a:xfrm>
              <a:off x="7097844" y="2891748"/>
              <a:ext cx="1098283" cy="1059758"/>
            </a:xfrm>
            <a:prstGeom prst="rect">
              <a:avLst/>
            </a:prstGeom>
          </p:spPr>
        </p:pic>
        <p:sp>
          <p:nvSpPr>
            <p:cNvPr id="42" name="Rectangle 41"/>
            <p:cNvSpPr/>
            <p:nvPr/>
          </p:nvSpPr>
          <p:spPr>
            <a:xfrm>
              <a:off x="6851570" y="3936597"/>
              <a:ext cx="1647424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Webserver</a:t>
              </a:r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557576" y="2562679"/>
              <a:ext cx="2196565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www.example.com</a:t>
              </a:r>
              <a:endParaRPr lang="en-US"/>
            </a:p>
          </p:txBody>
        </p:sp>
        <p:cxnSp>
          <p:nvCxnSpPr>
            <p:cNvPr id="44" name="Elbow Connector 43"/>
            <p:cNvCxnSpPr/>
            <p:nvPr/>
          </p:nvCxnSpPr>
          <p:spPr>
            <a:xfrm rot="10800000">
              <a:off x="5544868" y="3660494"/>
              <a:ext cx="1725873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/>
            <p:nvPr/>
          </p:nvCxnSpPr>
          <p:spPr>
            <a:xfrm>
              <a:off x="5544868" y="3348800"/>
              <a:ext cx="1568158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/>
            <p:cNvCxnSpPr/>
            <p:nvPr/>
          </p:nvCxnSpPr>
          <p:spPr>
            <a:xfrm rot="10800000">
              <a:off x="2362200" y="3722907"/>
              <a:ext cx="1295400" cy="158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2590800" y="2960907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2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094009" y="3473478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7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04197" y="3249638"/>
              <a:ext cx="1524000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a.php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63" name="Elbow Connector 62"/>
            <p:cNvCxnSpPr/>
            <p:nvPr/>
          </p:nvCxnSpPr>
          <p:spPr>
            <a:xfrm>
              <a:off x="2286000" y="3396333"/>
              <a:ext cx="1447800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Picture 64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197" y="3038265"/>
              <a:ext cx="1892328" cy="1203267"/>
            </a:xfrm>
            <a:prstGeom prst="rect">
              <a:avLst/>
            </a:prstGeom>
          </p:spPr>
        </p:pic>
        <p:sp>
          <p:nvSpPr>
            <p:cNvPr id="66" name="Rectangle 65"/>
            <p:cNvSpPr/>
            <p:nvPr/>
          </p:nvSpPr>
          <p:spPr>
            <a:xfrm>
              <a:off x="751194" y="3408166"/>
              <a:ext cx="1524000" cy="49090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b</a:t>
              </a:r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.php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pic>
          <p:nvPicPr>
            <p:cNvPr id="68" name="Picture 67" descr="php2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8102" y="1505819"/>
              <a:ext cx="1495872" cy="951174"/>
            </a:xfrm>
            <a:prstGeom prst="rect">
              <a:avLst/>
            </a:prstGeom>
          </p:spPr>
        </p:pic>
        <p:sp>
          <p:nvSpPr>
            <p:cNvPr id="69" name="Rectangle 68"/>
            <p:cNvSpPr/>
            <p:nvPr/>
          </p:nvSpPr>
          <p:spPr>
            <a:xfrm>
              <a:off x="5455099" y="1875719"/>
              <a:ext cx="1204712" cy="3628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2800" b="1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b</a:t>
              </a:r>
              <a:r>
                <a:rPr lang="en-US" sz="28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.php</a:t>
              </a:r>
              <a:endParaRPr lang="en-US" sz="28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pic>
          <p:nvPicPr>
            <p:cNvPr id="70" name="Picture 69" descr="php2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4663" y="1505818"/>
              <a:ext cx="1495872" cy="951174"/>
            </a:xfrm>
            <a:prstGeom prst="rect">
              <a:avLst/>
            </a:prstGeom>
          </p:spPr>
        </p:pic>
        <p:sp>
          <p:nvSpPr>
            <p:cNvPr id="71" name="Rectangle 70"/>
            <p:cNvSpPr/>
            <p:nvPr/>
          </p:nvSpPr>
          <p:spPr>
            <a:xfrm>
              <a:off x="2441660" y="1875718"/>
              <a:ext cx="1204712" cy="3628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28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a.php</a:t>
              </a:r>
              <a:endParaRPr lang="en-US" sz="28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2" name="Left-Right Arrow 71"/>
          <p:cNvSpPr/>
          <p:nvPr/>
        </p:nvSpPr>
        <p:spPr>
          <a:xfrm>
            <a:off x="3962400" y="1371600"/>
            <a:ext cx="1066800" cy="228600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24" name="Picture 23" descr="php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1489164"/>
            <a:ext cx="3276600" cy="285423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00200" y="4343400"/>
            <a:ext cx="1248992" cy="5232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Left-Right Arrow 25"/>
          <p:cNvSpPr/>
          <p:nvPr/>
        </p:nvSpPr>
        <p:spPr>
          <a:xfrm>
            <a:off x="4038600" y="2743200"/>
            <a:ext cx="1066800" cy="228600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php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0" y="1512915"/>
            <a:ext cx="3200400" cy="283048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400800" y="4332516"/>
            <a:ext cx="1248992" cy="5232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</a:t>
            </a:r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9" name="Picture 28" descr="page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590800"/>
            <a:ext cx="2656508" cy="1295400"/>
          </a:xfrm>
          <a:prstGeom prst="rect">
            <a:avLst/>
          </a:prstGeom>
        </p:spPr>
      </p:pic>
      <p:pic>
        <p:nvPicPr>
          <p:cNvPr id="30" name="Picture 29" descr="page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667000"/>
            <a:ext cx="2400300" cy="10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2" name="Group 57"/>
          <p:cNvGrpSpPr/>
          <p:nvPr/>
        </p:nvGrpSpPr>
        <p:grpSpPr>
          <a:xfrm>
            <a:off x="228600" y="2286001"/>
            <a:ext cx="8601902" cy="2416900"/>
            <a:chOff x="457200" y="2562679"/>
            <a:chExt cx="8296941" cy="1676066"/>
          </a:xfrm>
        </p:grpSpPr>
        <p:pic>
          <p:nvPicPr>
            <p:cNvPr id="34" name="Picture 33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79737"/>
              <a:ext cx="1892328" cy="1203267"/>
            </a:xfrm>
            <a:prstGeom prst="rect">
              <a:avLst/>
            </a:prstGeom>
          </p:spPr>
        </p:pic>
        <p:sp>
          <p:nvSpPr>
            <p:cNvPr id="35" name="Flowchart: Multidocument 34"/>
            <p:cNvSpPr/>
            <p:nvPr/>
          </p:nvSpPr>
          <p:spPr>
            <a:xfrm>
              <a:off x="3657600" y="3037107"/>
              <a:ext cx="1887268" cy="1054963"/>
            </a:xfrm>
            <a:prstGeom prst="flowChartMultidocument">
              <a:avLst/>
            </a:prstGeom>
            <a:gradFill flip="none" rotWithShape="1">
              <a:gsLst>
                <a:gs pos="100000">
                  <a:schemeClr val="accent3">
                    <a:lumMod val="20000"/>
                    <a:lumOff val="80000"/>
                    <a:alpha val="20000"/>
                  </a:schemeClr>
                </a:gs>
                <a:gs pos="50000">
                  <a:srgbClr val="9CB86E"/>
                </a:gs>
                <a:gs pos="100000">
                  <a:srgbClr val="156B13"/>
                </a:gs>
                <a:gs pos="100000">
                  <a:srgbClr val="156B13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Internet /</a:t>
              </a:r>
            </a:p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Intranet 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30699" y="2562679"/>
              <a:ext cx="1882770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smtClean="0">
                  <a:solidFill>
                    <a:srgbClr val="C00000"/>
                  </a:solidFill>
                </a:rPr>
                <a:t>Web Browser</a:t>
              </a:r>
              <a:endParaRPr lang="en-US" b="1">
                <a:solidFill>
                  <a:srgbClr val="C00000"/>
                </a:solidFill>
              </a:endParaRPr>
            </a:p>
          </p:txBody>
        </p:sp>
        <p:pic>
          <p:nvPicPr>
            <p:cNvPr id="37" name="Picture 36" descr="php3.jpg"/>
            <p:cNvPicPr>
              <a:picLocks noChangeAspect="1"/>
            </p:cNvPicPr>
            <p:nvPr/>
          </p:nvPicPr>
          <p:blipFill>
            <a:blip r:embed="rId3"/>
            <a:srcRect r="49598"/>
            <a:stretch>
              <a:fillRect/>
            </a:stretch>
          </p:blipFill>
          <p:spPr>
            <a:xfrm>
              <a:off x="7097844" y="2891748"/>
              <a:ext cx="1098283" cy="1059758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6851570" y="3936597"/>
              <a:ext cx="1647424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Webserver</a:t>
              </a:r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557576" y="2562679"/>
              <a:ext cx="2196565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www.example.com</a:t>
              </a:r>
              <a:endParaRPr lang="en-US"/>
            </a:p>
          </p:txBody>
        </p:sp>
        <p:cxnSp>
          <p:nvCxnSpPr>
            <p:cNvPr id="40" name="Elbow Connector 39"/>
            <p:cNvCxnSpPr/>
            <p:nvPr/>
          </p:nvCxnSpPr>
          <p:spPr>
            <a:xfrm rot="10800000">
              <a:off x="5544868" y="3660494"/>
              <a:ext cx="1725873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/>
            <p:cNvCxnSpPr/>
            <p:nvPr/>
          </p:nvCxnSpPr>
          <p:spPr>
            <a:xfrm>
              <a:off x="5544868" y="3348800"/>
              <a:ext cx="1568158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/>
            <p:cNvCxnSpPr/>
            <p:nvPr/>
          </p:nvCxnSpPr>
          <p:spPr>
            <a:xfrm rot="10800000">
              <a:off x="2362200" y="3722907"/>
              <a:ext cx="1295400" cy="158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2590800" y="2960907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2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094009" y="3473478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7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48" name="Elbow Connector 47"/>
            <p:cNvCxnSpPr/>
            <p:nvPr/>
          </p:nvCxnSpPr>
          <p:spPr>
            <a:xfrm>
              <a:off x="2286000" y="3396333"/>
              <a:ext cx="1447800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 descr="page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276600"/>
            <a:ext cx="1828799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2" name="Group 62"/>
          <p:cNvGrpSpPr/>
          <p:nvPr/>
        </p:nvGrpSpPr>
        <p:grpSpPr>
          <a:xfrm>
            <a:off x="0" y="2285994"/>
            <a:ext cx="8830500" cy="2667005"/>
            <a:chOff x="236705" y="2562679"/>
            <a:chExt cx="8517436" cy="1849510"/>
          </a:xfrm>
        </p:grpSpPr>
        <p:pic>
          <p:nvPicPr>
            <p:cNvPr id="64" name="Picture 63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79737"/>
              <a:ext cx="1892328" cy="1203267"/>
            </a:xfrm>
            <a:prstGeom prst="rect">
              <a:avLst/>
            </a:prstGeom>
          </p:spPr>
        </p:pic>
        <p:sp>
          <p:nvSpPr>
            <p:cNvPr id="65" name="Flowchart: Multidocument 64"/>
            <p:cNvSpPr/>
            <p:nvPr/>
          </p:nvSpPr>
          <p:spPr>
            <a:xfrm>
              <a:off x="3657600" y="3037107"/>
              <a:ext cx="1887268" cy="1054963"/>
            </a:xfrm>
            <a:prstGeom prst="flowChartMultidocument">
              <a:avLst/>
            </a:prstGeom>
            <a:gradFill flip="none" rotWithShape="1">
              <a:gsLst>
                <a:gs pos="100000">
                  <a:schemeClr val="accent3">
                    <a:lumMod val="20000"/>
                    <a:lumOff val="80000"/>
                    <a:alpha val="20000"/>
                  </a:schemeClr>
                </a:gs>
                <a:gs pos="50000">
                  <a:srgbClr val="9CB86E"/>
                </a:gs>
                <a:gs pos="100000">
                  <a:srgbClr val="156B13"/>
                </a:gs>
                <a:gs pos="100000">
                  <a:srgbClr val="156B13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Internet /</a:t>
              </a:r>
            </a:p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Intranet 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0699" y="2562679"/>
              <a:ext cx="1882770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smtClean="0">
                  <a:solidFill>
                    <a:srgbClr val="C00000"/>
                  </a:solidFill>
                </a:rPr>
                <a:t>Web Browser</a:t>
              </a:r>
              <a:endParaRPr lang="en-US" b="1">
                <a:solidFill>
                  <a:srgbClr val="C00000"/>
                </a:solidFill>
              </a:endParaRPr>
            </a:p>
          </p:txBody>
        </p:sp>
        <p:pic>
          <p:nvPicPr>
            <p:cNvPr id="67" name="Picture 66" descr="php3.jpg"/>
            <p:cNvPicPr>
              <a:picLocks noChangeAspect="1"/>
            </p:cNvPicPr>
            <p:nvPr/>
          </p:nvPicPr>
          <p:blipFill>
            <a:blip r:embed="rId3"/>
            <a:srcRect r="49598"/>
            <a:stretch>
              <a:fillRect/>
            </a:stretch>
          </p:blipFill>
          <p:spPr>
            <a:xfrm>
              <a:off x="7097844" y="2891748"/>
              <a:ext cx="1098283" cy="1059758"/>
            </a:xfrm>
            <a:prstGeom prst="rect">
              <a:avLst/>
            </a:prstGeom>
          </p:spPr>
        </p:pic>
        <p:sp>
          <p:nvSpPr>
            <p:cNvPr id="68" name="Rectangle 67"/>
            <p:cNvSpPr/>
            <p:nvPr/>
          </p:nvSpPr>
          <p:spPr>
            <a:xfrm>
              <a:off x="6851570" y="3936597"/>
              <a:ext cx="1647424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Webserver</a:t>
              </a:r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557576" y="2562679"/>
              <a:ext cx="2196565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www.example.com</a:t>
              </a:r>
              <a:endParaRPr lang="en-US"/>
            </a:p>
          </p:txBody>
        </p:sp>
        <p:cxnSp>
          <p:nvCxnSpPr>
            <p:cNvPr id="70" name="Elbow Connector 69"/>
            <p:cNvCxnSpPr/>
            <p:nvPr/>
          </p:nvCxnSpPr>
          <p:spPr>
            <a:xfrm rot="10800000">
              <a:off x="5544868" y="3660494"/>
              <a:ext cx="1725873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5544868" y="3348800"/>
              <a:ext cx="1568158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/>
            <p:nvPr/>
          </p:nvCxnSpPr>
          <p:spPr>
            <a:xfrm rot="10800000">
              <a:off x="2362200" y="3722907"/>
              <a:ext cx="1295400" cy="158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2590800" y="2960907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2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094009" y="3473478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7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76" name="Elbow Connector 75"/>
            <p:cNvCxnSpPr/>
            <p:nvPr/>
          </p:nvCxnSpPr>
          <p:spPr>
            <a:xfrm>
              <a:off x="2286000" y="3396333"/>
              <a:ext cx="1447800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Subtitle 5"/>
            <p:cNvSpPr txBox="1">
              <a:spLocks/>
            </p:cNvSpPr>
            <p:nvPr/>
          </p:nvSpPr>
          <p:spPr>
            <a:xfrm>
              <a:off x="236705" y="4125324"/>
              <a:ext cx="4556908" cy="286865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 w="19050" cmpd="dbl">
              <a:solidFill>
                <a:srgbClr val="C00000"/>
              </a:solidFill>
            </a:ln>
          </p:spPr>
          <p:txBody>
            <a:bodyPr tIns="0">
              <a:normAutofit fontScale="92500" lnSpcReduction="10000"/>
            </a:bodyPr>
            <a:lstStyle/>
            <a:p>
              <a:pPr marL="27432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2"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Yêu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cầu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trang</a:t>
              </a:r>
              <a:r>
                <a:rPr kumimoji="0" lang="en-US" b="1" i="0" u="none" strike="noStrike" kern="1200" cap="none" spc="0" normalizeH="0" noProof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lang="en-US" b="1" smtClean="0">
                  <a:solidFill>
                    <a:srgbClr val="C00000"/>
                  </a:solidFill>
                  <a:latin typeface="Verdana" pitchFamily="34" charset="0"/>
                </a:rPr>
                <a:t>xuly</a:t>
              </a:r>
              <a:r>
                <a:rPr kumimoji="0" lang="en-US" b="1" i="0" u="none" strike="noStrike" kern="1200" cap="none" spc="0" normalizeH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.php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 descr="page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276600"/>
            <a:ext cx="1828799" cy="990600"/>
          </a:xfrm>
          <a:prstGeom prst="rect">
            <a:avLst/>
          </a:prstGeom>
        </p:spPr>
      </p:pic>
      <p:sp>
        <p:nvSpPr>
          <p:cNvPr id="47" name="Subtitle 5"/>
          <p:cNvSpPr txBox="1">
            <a:spLocks/>
          </p:cNvSpPr>
          <p:nvPr/>
        </p:nvSpPr>
        <p:spPr>
          <a:xfrm>
            <a:off x="293922" y="1360713"/>
            <a:ext cx="5421078" cy="391887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 w="19050" cmpd="dbl">
            <a:solidFill>
              <a:srgbClr val="00B0F0"/>
            </a:solidFill>
          </a:ln>
        </p:spPr>
        <p:txBody>
          <a:bodyPr tIns="0">
            <a:normAutofit lnSpcReduction="10000"/>
          </a:bodyPr>
          <a:lstStyle/>
          <a:p>
            <a:pPr marL="27432" marR="0" lvl="0" indent="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Textbox: </a:t>
            </a: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txtUsername 		</a:t>
            </a: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= admin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8" name="Subtitle 5"/>
          <p:cNvSpPr txBox="1">
            <a:spLocks/>
          </p:cNvSpPr>
          <p:nvPr/>
        </p:nvSpPr>
        <p:spPr>
          <a:xfrm>
            <a:off x="293922" y="1828801"/>
            <a:ext cx="5421078" cy="381000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 w="19050" cmpd="dbl">
            <a:solidFill>
              <a:srgbClr val="0070C0"/>
            </a:solidFill>
          </a:ln>
        </p:spPr>
        <p:txBody>
          <a:bodyPr tIns="0">
            <a:noAutofit/>
          </a:bodyPr>
          <a:lstStyle/>
          <a:p>
            <a:pPr marL="27432" marR="0" lvl="0" indent="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Password</a:t>
            </a: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Box</a:t>
            </a: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: </a:t>
            </a:r>
            <a:r>
              <a:rPr lang="en-US" sz="1600" b="1" smtClean="0">
                <a:solidFill>
                  <a:srgbClr val="C00000"/>
                </a:solidFill>
                <a:latin typeface="Verdana" pitchFamily="34" charset="0"/>
              </a:rPr>
              <a:t>txtPassword	</a:t>
            </a:r>
            <a:r>
              <a:rPr lang="en-US" sz="1600" b="1" smtClean="0">
                <a:solidFill>
                  <a:srgbClr val="00B050"/>
                </a:solidFill>
                <a:latin typeface="Verdana" pitchFamily="34" charset="0"/>
              </a:rPr>
              <a:t>= phpadmin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 rot="5400000" flipH="1" flipV="1">
            <a:off x="1447800" y="2286000"/>
            <a:ext cx="1143000" cy="990600"/>
          </a:xfrm>
          <a:prstGeom prst="straightConnector1">
            <a:avLst/>
          </a:prstGeom>
          <a:ln w="25400">
            <a:solidFill>
              <a:srgbClr val="00B05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2" name="Group 62"/>
          <p:cNvGrpSpPr/>
          <p:nvPr/>
        </p:nvGrpSpPr>
        <p:grpSpPr>
          <a:xfrm>
            <a:off x="228599" y="2285993"/>
            <a:ext cx="8601901" cy="2623469"/>
            <a:chOff x="457200" y="2562679"/>
            <a:chExt cx="8296941" cy="1819319"/>
          </a:xfrm>
        </p:grpSpPr>
        <p:pic>
          <p:nvPicPr>
            <p:cNvPr id="64" name="Picture 63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79737"/>
              <a:ext cx="1892328" cy="1203267"/>
            </a:xfrm>
            <a:prstGeom prst="rect">
              <a:avLst/>
            </a:prstGeom>
          </p:spPr>
        </p:pic>
        <p:sp>
          <p:nvSpPr>
            <p:cNvPr id="65" name="Flowchart: Multidocument 64"/>
            <p:cNvSpPr/>
            <p:nvPr/>
          </p:nvSpPr>
          <p:spPr>
            <a:xfrm>
              <a:off x="3657600" y="3037107"/>
              <a:ext cx="1887268" cy="1054963"/>
            </a:xfrm>
            <a:prstGeom prst="flowChartMultidocument">
              <a:avLst/>
            </a:prstGeom>
            <a:gradFill flip="none" rotWithShape="1">
              <a:gsLst>
                <a:gs pos="100000">
                  <a:schemeClr val="accent3">
                    <a:lumMod val="20000"/>
                    <a:lumOff val="80000"/>
                    <a:alpha val="20000"/>
                  </a:schemeClr>
                </a:gs>
                <a:gs pos="50000">
                  <a:srgbClr val="9CB86E"/>
                </a:gs>
                <a:gs pos="100000">
                  <a:srgbClr val="156B13"/>
                </a:gs>
                <a:gs pos="100000">
                  <a:srgbClr val="156B13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Internet /</a:t>
              </a:r>
            </a:p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Intranet 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0699" y="2562679"/>
              <a:ext cx="1882770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smtClean="0">
                  <a:solidFill>
                    <a:srgbClr val="C00000"/>
                  </a:solidFill>
                </a:rPr>
                <a:t>Web Browser</a:t>
              </a:r>
              <a:endParaRPr lang="en-US" b="1">
                <a:solidFill>
                  <a:srgbClr val="C00000"/>
                </a:solidFill>
              </a:endParaRPr>
            </a:p>
          </p:txBody>
        </p:sp>
        <p:pic>
          <p:nvPicPr>
            <p:cNvPr id="67" name="Picture 66" descr="php3.jpg"/>
            <p:cNvPicPr>
              <a:picLocks noChangeAspect="1"/>
            </p:cNvPicPr>
            <p:nvPr/>
          </p:nvPicPr>
          <p:blipFill>
            <a:blip r:embed="rId3"/>
            <a:srcRect r="49598"/>
            <a:stretch>
              <a:fillRect/>
            </a:stretch>
          </p:blipFill>
          <p:spPr>
            <a:xfrm>
              <a:off x="7097844" y="2891748"/>
              <a:ext cx="1098283" cy="1059758"/>
            </a:xfrm>
            <a:prstGeom prst="rect">
              <a:avLst/>
            </a:prstGeom>
          </p:spPr>
        </p:pic>
        <p:sp>
          <p:nvSpPr>
            <p:cNvPr id="68" name="Rectangle 67"/>
            <p:cNvSpPr/>
            <p:nvPr/>
          </p:nvSpPr>
          <p:spPr>
            <a:xfrm>
              <a:off x="6851570" y="3936597"/>
              <a:ext cx="1647424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Webserver</a:t>
              </a:r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557576" y="2562679"/>
              <a:ext cx="2196565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www.example.com</a:t>
              </a:r>
              <a:endParaRPr lang="en-US"/>
            </a:p>
          </p:txBody>
        </p:sp>
        <p:cxnSp>
          <p:nvCxnSpPr>
            <p:cNvPr id="70" name="Elbow Connector 69"/>
            <p:cNvCxnSpPr/>
            <p:nvPr/>
          </p:nvCxnSpPr>
          <p:spPr>
            <a:xfrm rot="10800000">
              <a:off x="5544868" y="3660494"/>
              <a:ext cx="1725873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5544868" y="3348800"/>
              <a:ext cx="1568158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/>
            <p:nvPr/>
          </p:nvCxnSpPr>
          <p:spPr>
            <a:xfrm rot="10800000">
              <a:off x="2362200" y="3722907"/>
              <a:ext cx="1295400" cy="158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2590800" y="2960907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2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094009" y="3473478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7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76" name="Elbow Connector 75"/>
            <p:cNvCxnSpPr/>
            <p:nvPr/>
          </p:nvCxnSpPr>
          <p:spPr>
            <a:xfrm>
              <a:off x="2286000" y="3396333"/>
              <a:ext cx="1447800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Subtitle 5"/>
            <p:cNvSpPr txBox="1">
              <a:spLocks/>
            </p:cNvSpPr>
            <p:nvPr/>
          </p:nvSpPr>
          <p:spPr>
            <a:xfrm>
              <a:off x="2882651" y="4095132"/>
              <a:ext cx="3013439" cy="286866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 w="19050" cmpd="dbl">
              <a:solidFill>
                <a:srgbClr val="C00000"/>
              </a:solidFill>
            </a:ln>
          </p:spPr>
          <p:txBody>
            <a:bodyPr tIns="0">
              <a:normAutofit fontScale="92500" lnSpcReduction="10000"/>
            </a:bodyPr>
            <a:lstStyle/>
            <a:p>
              <a:pPr marL="27432" marR="0" lvl="0" indent="0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2"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Yêu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cầu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trang</a:t>
              </a:r>
              <a:r>
                <a:rPr kumimoji="0" lang="en-US" b="1" i="0" u="none" strike="noStrike" kern="1200" cap="none" spc="0" normalizeH="0" noProof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lang="en-US" b="1" smtClean="0">
                  <a:solidFill>
                    <a:srgbClr val="C00000"/>
                  </a:solidFill>
                  <a:latin typeface="Verdana" pitchFamily="34" charset="0"/>
                </a:rPr>
                <a:t>xuly</a:t>
              </a:r>
              <a:r>
                <a:rPr kumimoji="0" lang="en-US" b="1" i="0" u="none" strike="noStrike" kern="1200" cap="none" spc="0" normalizeH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.php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 descr="page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276600"/>
            <a:ext cx="1828799" cy="990600"/>
          </a:xfrm>
          <a:prstGeom prst="rect">
            <a:avLst/>
          </a:prstGeom>
        </p:spPr>
      </p:pic>
      <p:sp>
        <p:nvSpPr>
          <p:cNvPr id="47" name="Subtitle 5"/>
          <p:cNvSpPr txBox="1">
            <a:spLocks/>
          </p:cNvSpPr>
          <p:nvPr/>
        </p:nvSpPr>
        <p:spPr>
          <a:xfrm>
            <a:off x="2971800" y="3341912"/>
            <a:ext cx="2677878" cy="391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mpd="dbl">
            <a:solidFill>
              <a:srgbClr val="00B0F0"/>
            </a:solidFill>
          </a:ln>
        </p:spPr>
        <p:txBody>
          <a:bodyPr tIns="0">
            <a:normAutofit fontScale="92500"/>
          </a:bodyPr>
          <a:lstStyle/>
          <a:p>
            <a:pPr marL="27432" marR="0" lvl="0" indent="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txtUsername </a:t>
            </a: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= admin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8" name="Subtitle 5"/>
          <p:cNvSpPr txBox="1">
            <a:spLocks/>
          </p:cNvSpPr>
          <p:nvPr/>
        </p:nvSpPr>
        <p:spPr>
          <a:xfrm>
            <a:off x="2971800" y="3810000"/>
            <a:ext cx="3211278" cy="380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mpd="dbl">
            <a:solidFill>
              <a:srgbClr val="0070C0"/>
            </a:solidFill>
          </a:ln>
        </p:spPr>
        <p:txBody>
          <a:bodyPr tIns="0">
            <a:noAutofit/>
          </a:bodyPr>
          <a:lstStyle/>
          <a:p>
            <a:pPr marL="27432" marR="0" lvl="0" indent="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1600" b="1" smtClean="0">
                <a:solidFill>
                  <a:srgbClr val="C00000"/>
                </a:solidFill>
                <a:latin typeface="Verdana" pitchFamily="34" charset="0"/>
              </a:rPr>
              <a:t>txtPassword </a:t>
            </a:r>
            <a:r>
              <a:rPr lang="en-US" sz="1600" b="1" smtClean="0">
                <a:solidFill>
                  <a:srgbClr val="00B050"/>
                </a:solidFill>
                <a:latin typeface="Verdana" pitchFamily="34" charset="0"/>
              </a:rPr>
              <a:t>= phpadmin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2" name="Group 62"/>
          <p:cNvGrpSpPr/>
          <p:nvPr/>
        </p:nvGrpSpPr>
        <p:grpSpPr>
          <a:xfrm>
            <a:off x="228599" y="2285993"/>
            <a:ext cx="8806541" cy="2416897"/>
            <a:chOff x="457200" y="2562679"/>
            <a:chExt cx="8494325" cy="1676066"/>
          </a:xfrm>
        </p:grpSpPr>
        <p:pic>
          <p:nvPicPr>
            <p:cNvPr id="64" name="Picture 63" descr="php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79737"/>
              <a:ext cx="1892328" cy="1203267"/>
            </a:xfrm>
            <a:prstGeom prst="rect">
              <a:avLst/>
            </a:prstGeom>
          </p:spPr>
        </p:pic>
        <p:sp>
          <p:nvSpPr>
            <p:cNvPr id="65" name="Flowchart: Multidocument 64"/>
            <p:cNvSpPr/>
            <p:nvPr/>
          </p:nvSpPr>
          <p:spPr>
            <a:xfrm>
              <a:off x="3657600" y="3037107"/>
              <a:ext cx="1887268" cy="1054963"/>
            </a:xfrm>
            <a:prstGeom prst="flowChartMultidocument">
              <a:avLst/>
            </a:prstGeom>
            <a:gradFill flip="none" rotWithShape="1">
              <a:gsLst>
                <a:gs pos="100000">
                  <a:schemeClr val="accent3">
                    <a:lumMod val="20000"/>
                    <a:lumOff val="80000"/>
                    <a:alpha val="20000"/>
                  </a:schemeClr>
                </a:gs>
                <a:gs pos="50000">
                  <a:srgbClr val="9CB86E"/>
                </a:gs>
                <a:gs pos="100000">
                  <a:srgbClr val="156B13"/>
                </a:gs>
                <a:gs pos="100000">
                  <a:srgbClr val="156B13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Internet /</a:t>
              </a:r>
            </a:p>
            <a:p>
              <a:pPr algn="ctr"/>
              <a:r>
                <a:rPr lang="en-US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Intranet 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0699" y="2562679"/>
              <a:ext cx="1882770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smtClean="0">
                  <a:solidFill>
                    <a:srgbClr val="C00000"/>
                  </a:solidFill>
                </a:rPr>
                <a:t>Web Browser</a:t>
              </a:r>
              <a:endParaRPr lang="en-US" b="1">
                <a:solidFill>
                  <a:srgbClr val="C00000"/>
                </a:solidFill>
              </a:endParaRPr>
            </a:p>
          </p:txBody>
        </p:sp>
        <p:pic>
          <p:nvPicPr>
            <p:cNvPr id="67" name="Picture 66" descr="php3.jpg"/>
            <p:cNvPicPr>
              <a:picLocks noChangeAspect="1"/>
            </p:cNvPicPr>
            <p:nvPr/>
          </p:nvPicPr>
          <p:blipFill>
            <a:blip r:embed="rId3"/>
            <a:srcRect r="49598"/>
            <a:stretch>
              <a:fillRect/>
            </a:stretch>
          </p:blipFill>
          <p:spPr>
            <a:xfrm>
              <a:off x="7097844" y="2891748"/>
              <a:ext cx="1098283" cy="1059758"/>
            </a:xfrm>
            <a:prstGeom prst="rect">
              <a:avLst/>
            </a:prstGeom>
          </p:spPr>
        </p:pic>
        <p:sp>
          <p:nvSpPr>
            <p:cNvPr id="68" name="Rectangle 67"/>
            <p:cNvSpPr/>
            <p:nvPr/>
          </p:nvSpPr>
          <p:spPr>
            <a:xfrm>
              <a:off x="6851570" y="3936597"/>
              <a:ext cx="1647424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Webserver</a:t>
              </a:r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557576" y="2562679"/>
              <a:ext cx="2196565" cy="302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/>
                <a:t>www.example.com</a:t>
              </a:r>
              <a:endParaRPr lang="en-US"/>
            </a:p>
          </p:txBody>
        </p:sp>
        <p:cxnSp>
          <p:nvCxnSpPr>
            <p:cNvPr id="70" name="Elbow Connector 69"/>
            <p:cNvCxnSpPr/>
            <p:nvPr/>
          </p:nvCxnSpPr>
          <p:spPr>
            <a:xfrm rot="10800000">
              <a:off x="5544868" y="3660494"/>
              <a:ext cx="1725873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5544868" y="3348800"/>
              <a:ext cx="1568158" cy="129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/>
            <p:nvPr/>
          </p:nvCxnSpPr>
          <p:spPr>
            <a:xfrm rot="10800000">
              <a:off x="2362200" y="3722907"/>
              <a:ext cx="1295400" cy="158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2590800" y="2960907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2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094009" y="3473478"/>
              <a:ext cx="627590" cy="57911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sz="4000" b="1" cap="none" spc="5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7</a:t>
              </a:r>
              <a:endParaRPr lang="en-US" sz="40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76" name="Elbow Connector 75"/>
            <p:cNvCxnSpPr/>
            <p:nvPr/>
          </p:nvCxnSpPr>
          <p:spPr>
            <a:xfrm>
              <a:off x="2286000" y="3396333"/>
              <a:ext cx="1447800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3366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Subtitle 5"/>
            <p:cNvSpPr txBox="1">
              <a:spLocks/>
            </p:cNvSpPr>
            <p:nvPr/>
          </p:nvSpPr>
          <p:spPr>
            <a:xfrm>
              <a:off x="5938086" y="3408173"/>
              <a:ext cx="3013439" cy="286866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 w="19050" cmpd="dbl">
              <a:solidFill>
                <a:srgbClr val="C00000"/>
              </a:solidFill>
            </a:ln>
          </p:spPr>
          <p:txBody>
            <a:bodyPr tIns="0">
              <a:normAutofit fontScale="92500" lnSpcReduction="10000"/>
            </a:bodyPr>
            <a:lstStyle/>
            <a:p>
              <a:pPr marL="27432" marR="0" lvl="0" indent="0" defTabSz="914400" rtl="0" eaLnBrk="1" fontAlgn="auto" latinLnBrk="0" hangingPunct="1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2"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Yêu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dirty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cầu</a:t>
              </a:r>
              <a:r>
                <a:rPr kumimoji="0" lang="en-US" b="1" i="0" u="none" strike="noStrike" kern="1200" cap="none" spc="0" normalizeH="0" noProof="0" dirty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1200" cap="none" spc="0" normalizeH="0" noProof="0" err="1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trang</a:t>
              </a:r>
              <a:r>
                <a:rPr kumimoji="0" lang="en-US" b="1" i="0" u="none" strike="noStrike" kern="1200" cap="none" spc="0" normalizeH="0" noProof="0" smtClean="0">
                  <a:ln>
                    <a:noFill/>
                  </a:ln>
                  <a:solidFill>
                    <a:schemeClr val="tx2">
                      <a:shade val="30000"/>
                      <a:satMod val="150000"/>
                    </a:schemeClr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 </a:t>
              </a:r>
              <a:r>
                <a:rPr lang="en-US" b="1" smtClean="0">
                  <a:solidFill>
                    <a:srgbClr val="C00000"/>
                  </a:solidFill>
                  <a:latin typeface="Verdana" pitchFamily="34" charset="0"/>
                </a:rPr>
                <a:t>xuly</a:t>
              </a:r>
              <a:r>
                <a:rPr kumimoji="0" lang="en-US" b="1" i="0" u="none" strike="noStrike" kern="1200" cap="none" spc="0" normalizeH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.php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endParaRPr>
            </a:p>
          </p:txBody>
        </p:sp>
      </p:grpSp>
      <p:pic>
        <p:nvPicPr>
          <p:cNvPr id="18" name="Picture 17" descr="page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276600"/>
            <a:ext cx="1828799" cy="990600"/>
          </a:xfrm>
          <a:prstGeom prst="rect">
            <a:avLst/>
          </a:prstGeom>
        </p:spPr>
      </p:pic>
      <p:sp>
        <p:nvSpPr>
          <p:cNvPr id="47" name="Subtitle 5"/>
          <p:cNvSpPr txBox="1">
            <a:spLocks/>
          </p:cNvSpPr>
          <p:nvPr/>
        </p:nvSpPr>
        <p:spPr>
          <a:xfrm>
            <a:off x="5910951" y="2579912"/>
            <a:ext cx="2677878" cy="391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mpd="dbl">
            <a:solidFill>
              <a:srgbClr val="00B0F0"/>
            </a:solidFill>
          </a:ln>
        </p:spPr>
        <p:txBody>
          <a:bodyPr tIns="0">
            <a:normAutofit fontScale="92500"/>
          </a:bodyPr>
          <a:lstStyle/>
          <a:p>
            <a:pPr marL="27432" marR="0" lvl="0" indent="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txtUsername </a:t>
            </a: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= admin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8" name="Subtitle 5"/>
          <p:cNvSpPr txBox="1">
            <a:spLocks/>
          </p:cNvSpPr>
          <p:nvPr/>
        </p:nvSpPr>
        <p:spPr>
          <a:xfrm>
            <a:off x="5910951" y="3048000"/>
            <a:ext cx="3211278" cy="380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mpd="dbl">
            <a:solidFill>
              <a:srgbClr val="0070C0"/>
            </a:solidFill>
          </a:ln>
        </p:spPr>
        <p:txBody>
          <a:bodyPr tIns="0">
            <a:noAutofit/>
          </a:bodyPr>
          <a:lstStyle/>
          <a:p>
            <a:pPr marL="27432" marR="0" lvl="0" indent="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1600" b="1" smtClean="0">
                <a:solidFill>
                  <a:srgbClr val="C00000"/>
                </a:solidFill>
                <a:latin typeface="Verdana" pitchFamily="34" charset="0"/>
              </a:rPr>
              <a:t>txtPassword </a:t>
            </a:r>
            <a:r>
              <a:rPr lang="en-US" sz="1600" b="1" smtClean="0">
                <a:solidFill>
                  <a:srgbClr val="00B050"/>
                </a:solidFill>
                <a:latin typeface="Verdana" pitchFamily="34" charset="0"/>
              </a:rPr>
              <a:t>= phpadmin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24" name="Picture 23" descr="php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" y="1489164"/>
            <a:ext cx="3276600" cy="2854235"/>
          </a:xfrm>
          <a:prstGeom prst="rect">
            <a:avLst/>
          </a:prstGeom>
        </p:spPr>
      </p:pic>
      <p:pic>
        <p:nvPicPr>
          <p:cNvPr id="27" name="Picture 26" descr="php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4733" y="1512915"/>
            <a:ext cx="3200400" cy="2830485"/>
          </a:xfrm>
          <a:prstGeom prst="rect">
            <a:avLst/>
          </a:prstGeom>
        </p:spPr>
      </p:pic>
      <p:pic>
        <p:nvPicPr>
          <p:cNvPr id="29" name="Picture 28" descr="page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90800"/>
            <a:ext cx="2656508" cy="1295400"/>
          </a:xfrm>
          <a:prstGeom prst="rect">
            <a:avLst/>
          </a:prstGeom>
        </p:spPr>
      </p:pic>
      <p:pic>
        <p:nvPicPr>
          <p:cNvPr id="30" name="Picture 29" descr="page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933" y="2667000"/>
            <a:ext cx="2400300" cy="1066800"/>
          </a:xfrm>
          <a:prstGeom prst="rect">
            <a:avLst/>
          </a:prstGeom>
        </p:spPr>
      </p:pic>
      <p:sp>
        <p:nvSpPr>
          <p:cNvPr id="10" name="Flowchart: Multidocument 9"/>
          <p:cNvSpPr/>
          <p:nvPr/>
        </p:nvSpPr>
        <p:spPr>
          <a:xfrm>
            <a:off x="3773324" y="2319679"/>
            <a:ext cx="1549786" cy="1204942"/>
          </a:xfrm>
          <a:prstGeom prst="flowChartMultidocument">
            <a:avLst/>
          </a:prstGeom>
          <a:gradFill flip="none" rotWithShape="1">
            <a:gsLst>
              <a:gs pos="100000">
                <a:schemeClr val="accent3">
                  <a:lumMod val="20000"/>
                  <a:lumOff val="80000"/>
                  <a:alpha val="20000"/>
                </a:schemeClr>
              </a:gs>
              <a:gs pos="50000">
                <a:srgbClr val="9CB86E"/>
              </a:gs>
              <a:gs pos="100000">
                <a:srgbClr val="156B13"/>
              </a:gs>
              <a:gs pos="100000">
                <a:srgbClr val="156B13"/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Internet /</a:t>
            </a:r>
          </a:p>
          <a:p>
            <a:pPr algn="ctr"/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Intranet 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1" name="Elbow Connector 10"/>
          <p:cNvCxnSpPr/>
          <p:nvPr/>
        </p:nvCxnSpPr>
        <p:spPr>
          <a:xfrm rot="10800000">
            <a:off x="5323111" y="3052776"/>
            <a:ext cx="511623" cy="6008"/>
          </a:xfrm>
          <a:prstGeom prst="bentConnector3">
            <a:avLst>
              <a:gd name="adj1" fmla="val 50000"/>
            </a:avLst>
          </a:prstGeom>
          <a:ln w="25400">
            <a:solidFill>
              <a:srgbClr val="3366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>
            <a:off x="5257800" y="2656104"/>
            <a:ext cx="609600" cy="1588"/>
          </a:xfrm>
          <a:prstGeom prst="bentConnector3">
            <a:avLst>
              <a:gd name="adj1" fmla="val 50000"/>
            </a:avLst>
          </a:prstGeom>
          <a:ln w="25400">
            <a:solidFill>
              <a:srgbClr val="3366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10800000" flipV="1">
            <a:off x="2971802" y="3124200"/>
            <a:ext cx="838198" cy="2"/>
          </a:xfrm>
          <a:prstGeom prst="bentConnector3">
            <a:avLst>
              <a:gd name="adj1" fmla="val 50000"/>
            </a:avLst>
          </a:prstGeom>
          <a:ln w="25400">
            <a:solidFill>
              <a:srgbClr val="3366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00400" y="2057400"/>
            <a:ext cx="6506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40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  <a:endParaRPr lang="en-US" sz="40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cxnSp>
        <p:nvCxnSpPr>
          <p:cNvPr id="15" name="Elbow Connector 14"/>
          <p:cNvCxnSpPr/>
          <p:nvPr/>
        </p:nvCxnSpPr>
        <p:spPr>
          <a:xfrm>
            <a:off x="3048000" y="2667000"/>
            <a:ext cx="685800" cy="1588"/>
          </a:xfrm>
          <a:prstGeom prst="bentConnector3">
            <a:avLst>
              <a:gd name="adj1" fmla="val 50000"/>
            </a:avLst>
          </a:prstGeom>
          <a:ln w="25400">
            <a:solidFill>
              <a:srgbClr val="3366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ubtitle 5"/>
          <p:cNvSpPr txBox="1">
            <a:spLocks/>
          </p:cNvSpPr>
          <p:nvPr/>
        </p:nvSpPr>
        <p:spPr>
          <a:xfrm>
            <a:off x="5932722" y="3265712"/>
            <a:ext cx="2677878" cy="391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mpd="dbl">
            <a:solidFill>
              <a:srgbClr val="00B0F0"/>
            </a:solidFill>
          </a:ln>
        </p:spPr>
        <p:txBody>
          <a:bodyPr tIns="0">
            <a:normAutofit fontScale="92500"/>
          </a:bodyPr>
          <a:lstStyle/>
          <a:p>
            <a:pPr marL="27432" marR="0" lvl="0" indent="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txtUsername </a:t>
            </a:r>
            <a:r>
              <a:rPr kumimoji="0" lang="en-US" sz="1600" b="1" i="0" u="none" strike="noStrike" kern="1200" cap="none" spc="0" normalizeH="0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= admin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4" name="Subtitle 5"/>
          <p:cNvSpPr txBox="1">
            <a:spLocks/>
          </p:cNvSpPr>
          <p:nvPr/>
        </p:nvSpPr>
        <p:spPr>
          <a:xfrm>
            <a:off x="5932722" y="3733800"/>
            <a:ext cx="3211278" cy="380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mpd="dbl">
            <a:solidFill>
              <a:srgbClr val="0070C0"/>
            </a:solidFill>
          </a:ln>
        </p:spPr>
        <p:txBody>
          <a:bodyPr tIns="0">
            <a:noAutofit/>
          </a:bodyPr>
          <a:lstStyle/>
          <a:p>
            <a:pPr marL="27432" marR="0" lvl="0" indent="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1600" b="1" smtClean="0">
                <a:solidFill>
                  <a:srgbClr val="C00000"/>
                </a:solidFill>
                <a:latin typeface="Verdana" pitchFamily="34" charset="0"/>
              </a:rPr>
              <a:t>txtPassword </a:t>
            </a:r>
            <a:r>
              <a:rPr lang="en-US" sz="1600" b="1" smtClean="0">
                <a:solidFill>
                  <a:srgbClr val="00B050"/>
                </a:solidFill>
                <a:latin typeface="Verdana" pitchFamily="34" charset="0"/>
              </a:rPr>
              <a:t>= phpadmin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126299" y="478491"/>
            <a:ext cx="8995930" cy="264573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34950" marR="0" lvl="0" indent="-207963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Trang web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nhập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dữ liệu</a:t>
            </a:r>
          </a:p>
          <a:p>
            <a:pPr marL="664718" marR="0" lvl="1" indent="-207963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Verdana" pitchFamily="34" charset="0"/>
              <a:buChar char="›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Sử dụng đối tượng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&lt;form&gt;</a:t>
            </a:r>
          </a:p>
          <a:p>
            <a:pPr marL="664718" marR="0" lvl="1" indent="-207963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Verdana" pitchFamily="34" charset="0"/>
              <a:buChar char="›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Nhập liệu thông qua các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formfield</a:t>
            </a:r>
          </a:p>
          <a:p>
            <a:pPr marL="664718" marR="0" lvl="1" indent="-207963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Verdana" pitchFamily="34" charset="0"/>
              <a:buChar char="›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Thực hiện việc truyền dữ liệu qua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Submit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152397" y="3124227"/>
            <a:ext cx="8839200" cy="314595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tIns="0">
            <a:noAutofit/>
          </a:bodyPr>
          <a:lstStyle/>
          <a:p>
            <a:pPr marL="234950" lvl="0" indent="-207963">
              <a:lnSpc>
                <a:spcPct val="160000"/>
              </a:lnSpc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sz="2300" dirty="0">
                <a:solidFill>
                  <a:srgbClr val="0070C0"/>
                </a:solidFill>
                <a:latin typeface="Verdana" pitchFamily="34" charset="0"/>
              </a:rPr>
              <a:t>&lt;form </a:t>
            </a:r>
            <a:r>
              <a:rPr lang="en-US" sz="230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action</a:t>
            </a:r>
            <a:r>
              <a:rPr lang="en-US" sz="230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=“</a:t>
            </a:r>
            <a:r>
              <a:rPr lang="en-US" sz="2300" smtClean="0">
                <a:solidFill>
                  <a:srgbClr val="C00000"/>
                </a:solidFill>
                <a:latin typeface="Verdana" pitchFamily="34" charset="0"/>
              </a:rPr>
              <a:t>xuly.php</a:t>
            </a:r>
            <a:r>
              <a:rPr lang="en-US" sz="2300" dirty="0">
                <a:solidFill>
                  <a:srgbClr val="C00000"/>
                </a:solidFill>
                <a:latin typeface="Verdana" pitchFamily="34" charset="0"/>
              </a:rPr>
              <a:t>"</a:t>
            </a:r>
            <a:r>
              <a:rPr lang="en-US" sz="2300" dirty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method ="</a:t>
            </a:r>
            <a:r>
              <a:rPr lang="en-US" sz="2300" dirty="0">
                <a:solidFill>
                  <a:srgbClr val="0070C0"/>
                </a:solidFill>
                <a:latin typeface="Verdana" pitchFamily="34" charset="0"/>
              </a:rPr>
              <a:t>post"</a:t>
            </a:r>
            <a:r>
              <a:rPr lang="en-US" sz="2300" dirty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&gt;</a:t>
            </a:r>
          </a:p>
          <a:p>
            <a:pPr marL="234950" lvl="0" indent="-207963">
              <a:lnSpc>
                <a:spcPct val="160000"/>
              </a:lnSpc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sz="2300" dirty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		Username: &lt;input type="text" </a:t>
            </a:r>
            <a:r>
              <a:rPr lang="en-US" sz="230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name</a:t>
            </a:r>
            <a:r>
              <a:rPr lang="en-US" sz="230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=“txtname</a:t>
            </a:r>
            <a:r>
              <a:rPr lang="en-US" sz="2300" dirty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"/&gt; </a:t>
            </a:r>
          </a:p>
          <a:p>
            <a:pPr marL="234950" lvl="0" indent="-207963">
              <a:lnSpc>
                <a:spcPct val="160000"/>
              </a:lnSpc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sz="2300" dirty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		Password: &lt;input type="text" </a:t>
            </a:r>
            <a:r>
              <a:rPr lang="en-US" sz="230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name</a:t>
            </a:r>
            <a:r>
              <a:rPr lang="en-US" sz="230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=“password</a:t>
            </a:r>
            <a:r>
              <a:rPr lang="en-US" sz="23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"/&gt;</a:t>
            </a:r>
            <a:endParaRPr lang="en-US" sz="2300" dirty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  <a:p>
            <a:pPr marL="234950" lvl="0" indent="-207963">
              <a:lnSpc>
                <a:spcPct val="160000"/>
              </a:lnSpc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sz="2300" dirty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		&lt;input type ="</a:t>
            </a:r>
            <a:r>
              <a:rPr lang="en-US" sz="2300" dirty="0">
                <a:solidFill>
                  <a:srgbClr val="0070C0"/>
                </a:solidFill>
                <a:latin typeface="Verdana" pitchFamily="34" charset="0"/>
              </a:rPr>
              <a:t>submit"</a:t>
            </a:r>
            <a:r>
              <a:rPr lang="en-US" sz="2300" dirty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&gt;</a:t>
            </a:r>
          </a:p>
          <a:p>
            <a:pPr marL="234950" lvl="0" indent="-207963">
              <a:lnSpc>
                <a:spcPct val="160000"/>
              </a:lnSpc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sz="2300" dirty="0" smtClean="0">
                <a:solidFill>
                  <a:srgbClr val="0070C0"/>
                </a:solidFill>
                <a:latin typeface="Verdana" pitchFamily="34" charset="0"/>
              </a:rPr>
              <a:t>&lt;/</a:t>
            </a:r>
            <a:r>
              <a:rPr lang="en-US" sz="2300" dirty="0">
                <a:solidFill>
                  <a:srgbClr val="0070C0"/>
                </a:solidFill>
                <a:latin typeface="Verdana" pitchFamily="34" charset="0"/>
              </a:rPr>
              <a:t>form&gt;</a:t>
            </a:r>
            <a:endParaRPr kumimoji="0" lang="en-US" sz="23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9745" y="685800"/>
            <a:ext cx="8915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7663" indent="-3476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smtClean="0">
                <a:latin typeface="Verdana" pitchFamily="34" charset="0"/>
              </a:rPr>
              <a:t>Trang web nhận dữ liệu (</a:t>
            </a:r>
            <a:r>
              <a:rPr lang="en-US" sz="2400" smtClean="0">
                <a:solidFill>
                  <a:srgbClr val="C00000"/>
                </a:solidFill>
                <a:latin typeface="Verdana" pitchFamily="34" charset="0"/>
              </a:rPr>
              <a:t>URL</a:t>
            </a:r>
            <a:r>
              <a:rPr lang="en-US" sz="2400" smtClean="0">
                <a:latin typeface="Verdana" pitchFamily="34" charset="0"/>
              </a:rPr>
              <a:t>): Sử dụng các biến toàn cục của PHP</a:t>
            </a:r>
          </a:p>
          <a:p>
            <a:pPr lvl="2">
              <a:lnSpc>
                <a:spcPct val="150000"/>
              </a:lnSpc>
            </a:pP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–$_POST</a:t>
            </a:r>
            <a:r>
              <a:rPr lang="en-US" sz="2400" smtClean="0">
                <a:latin typeface="Verdana" pitchFamily="34" charset="0"/>
              </a:rPr>
              <a:t>[“FieldName”]</a:t>
            </a:r>
          </a:p>
          <a:p>
            <a:pPr lvl="2">
              <a:lnSpc>
                <a:spcPct val="150000"/>
              </a:lnSpc>
            </a:pP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–$_GET</a:t>
            </a:r>
            <a:r>
              <a:rPr lang="en-US" sz="2400" smtClean="0">
                <a:latin typeface="Verdana" pitchFamily="34" charset="0"/>
              </a:rPr>
              <a:t>[“FieldName”]</a:t>
            </a:r>
          </a:p>
          <a:p>
            <a:pPr lvl="2">
              <a:lnSpc>
                <a:spcPct val="150000"/>
              </a:lnSpc>
            </a:pPr>
            <a:r>
              <a:rPr lang="en-US" sz="2400" smtClean="0">
                <a:solidFill>
                  <a:srgbClr val="0070C0"/>
                </a:solidFill>
                <a:latin typeface="Verdana" pitchFamily="34" charset="0"/>
              </a:rPr>
              <a:t>–$_REQUEST</a:t>
            </a:r>
            <a:r>
              <a:rPr lang="en-US" sz="2400" smtClean="0">
                <a:latin typeface="Verdana" pitchFamily="34" charset="0"/>
              </a:rPr>
              <a:t>[“FieldName”]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5"/>
          <p:cNvSpPr txBox="1">
            <a:spLocks/>
          </p:cNvSpPr>
          <p:nvPr/>
        </p:nvSpPr>
        <p:spPr>
          <a:xfrm>
            <a:off x="-4191000" y="5181600"/>
            <a:ext cx="2514600" cy="3810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tIns="0">
            <a:noAutofit/>
          </a:bodyPr>
          <a:lstStyle/>
          <a:p>
            <a:pPr marL="27432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2000" b="1" smtClean="0">
                <a:solidFill>
                  <a:srgbClr val="C00000"/>
                </a:solidFill>
                <a:latin typeface="Verdana" pitchFamily="34" charset="0"/>
              </a:rPr>
              <a:t>xltimSach.php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12" name="Picture 11" descr="xltimSachPH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05600" y="1676400"/>
            <a:ext cx="6238875" cy="2486025"/>
          </a:xfrm>
          <a:prstGeom prst="rect">
            <a:avLst/>
          </a:prstGeom>
        </p:spPr>
      </p:pic>
      <p:pic>
        <p:nvPicPr>
          <p:cNvPr id="14" name="Picture 13" descr="timSachPH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6" y="1121237"/>
            <a:ext cx="8839200" cy="209125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 descr="timSachB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799" y="2971800"/>
            <a:ext cx="4145011" cy="3200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4876800" y="762000"/>
            <a:ext cx="1905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timSach.php</a:t>
            </a:r>
            <a:endParaRPr lang="en-US" sz="24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chế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12" name="Picture 11" descr="xltimSachPH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45820"/>
            <a:ext cx="8382000" cy="2895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 descr="xttimSachB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86200"/>
            <a:ext cx="7905750" cy="23622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4800600" y="514350"/>
            <a:ext cx="22098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xltimSach.php</a:t>
            </a:r>
            <a:endParaRPr lang="en-US" sz="24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ulyPHP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32" y="685800"/>
            <a:ext cx="6905625" cy="401002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" name="Picture 2" descr="xuluPHPB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435" y="4125684"/>
            <a:ext cx="4939553" cy="2133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 descr="xulyPH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116" y="1981200"/>
            <a:ext cx="3733800" cy="15666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Ví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dụ: xuly.php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95400" y="4572000"/>
            <a:ext cx="1905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xuly.php</a:t>
            </a:r>
            <a:endParaRPr lang="en-US" sz="24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4294967295"/>
          </p:nvPr>
        </p:nvSpPr>
        <p:spPr>
          <a:xfrm>
            <a:off x="304800" y="609600"/>
            <a:ext cx="8534400" cy="5486400"/>
          </a:xfrm>
        </p:spPr>
        <p:txBody>
          <a:bodyPr>
            <a:normAutofit/>
          </a:bodyPr>
          <a:lstStyle/>
          <a:p>
            <a:pPr marL="234950" indent="-207963">
              <a:lnSpc>
                <a:spcPct val="160000"/>
              </a:lnSpc>
              <a:buFont typeface="Wingdings" pitchFamily="2" charset="2"/>
              <a:buChar char="§"/>
            </a:pPr>
            <a:r>
              <a:rPr lang="en-US" sz="2000" dirty="0" err="1" smtClean="0">
                <a:latin typeface="Verdana" pitchFamily="34" charset="0"/>
              </a:rPr>
              <a:t>Tham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số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truyền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000" dirty="0" err="1" smtClean="0">
                <a:latin typeface="Verdana" pitchFamily="34" charset="0"/>
              </a:rPr>
              <a:t>đi</a:t>
            </a:r>
            <a:r>
              <a:rPr lang="en-US" sz="2000" dirty="0" smtClean="0">
                <a:latin typeface="Verdana" pitchFamily="34" charset="0"/>
              </a:rPr>
              <a:t> qua </a:t>
            </a:r>
            <a:r>
              <a:rPr lang="en-US" sz="2000" dirty="0" err="1" smtClean="0">
                <a:latin typeface="Verdana" pitchFamily="34" charset="0"/>
              </a:rPr>
              <a:t>địa</a:t>
            </a:r>
            <a:r>
              <a:rPr lang="en-US" sz="20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chỉ</a:t>
            </a:r>
            <a:r>
              <a:rPr lang="en-US" sz="2000" dirty="0" smtClean="0">
                <a:latin typeface="Verdana" pitchFamily="34" charset="0"/>
              </a:rPr>
              <a:t> URL</a:t>
            </a:r>
          </a:p>
          <a:p>
            <a:pPr marL="664718" lvl="1" indent="-207963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1800" dirty="0" smtClean="0">
                <a:latin typeface="Verdana" pitchFamily="34" charset="0"/>
                <a:hlinkClick r:id="rId2"/>
              </a:rPr>
              <a:t>http://domain/pathfile?</a:t>
            </a:r>
            <a:r>
              <a:rPr lang="en-US" sz="1800" dirty="0" smtClean="0">
                <a:latin typeface="Verdana" pitchFamily="34" charset="0"/>
              </a:rPr>
              <a:t>=</a:t>
            </a:r>
            <a:r>
              <a:rPr lang="en-US" sz="1800" dirty="0" smtClean="0">
                <a:solidFill>
                  <a:srgbClr val="0070C0"/>
                </a:solidFill>
                <a:latin typeface="Verdana" pitchFamily="34" charset="0"/>
              </a:rPr>
              <a:t>fieldname1</a:t>
            </a:r>
            <a:r>
              <a:rPr lang="en-US" sz="1800" dirty="0" smtClean="0">
                <a:latin typeface="Verdana" pitchFamily="34" charset="0"/>
              </a:rPr>
              <a:t>=</a:t>
            </a:r>
            <a:r>
              <a:rPr lang="en-US" sz="1800" dirty="0" smtClean="0">
                <a:solidFill>
                  <a:srgbClr val="00B050"/>
                </a:solidFill>
                <a:latin typeface="Verdana" pitchFamily="34" charset="0"/>
              </a:rPr>
              <a:t>value1</a:t>
            </a:r>
            <a:r>
              <a:rPr lang="en-US" sz="1800" dirty="0" smtClean="0">
                <a:solidFill>
                  <a:srgbClr val="C00000"/>
                </a:solidFill>
                <a:latin typeface="Verdana" pitchFamily="34" charset="0"/>
              </a:rPr>
              <a:t>&amp;</a:t>
            </a:r>
            <a:r>
              <a:rPr lang="en-US" sz="1800" dirty="0" smtClean="0">
                <a:solidFill>
                  <a:srgbClr val="0070C0"/>
                </a:solidFill>
                <a:latin typeface="Verdana" pitchFamily="34" charset="0"/>
              </a:rPr>
              <a:t>fieldname2</a:t>
            </a:r>
            <a:r>
              <a:rPr lang="en-US" sz="1800" dirty="0" smtClean="0">
                <a:latin typeface="Verdana" pitchFamily="34" charset="0"/>
              </a:rPr>
              <a:t>=</a:t>
            </a:r>
            <a:r>
              <a:rPr lang="en-US" sz="1800" dirty="0" smtClean="0">
                <a:solidFill>
                  <a:srgbClr val="00B050"/>
                </a:solidFill>
                <a:latin typeface="Verdana" pitchFamily="34" charset="0"/>
              </a:rPr>
              <a:t>value2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000" dirty="0" smtClean="0">
                <a:latin typeface="Verdana" pitchFamily="34" charset="0"/>
              </a:rPr>
              <a:t>http://</a:t>
            </a:r>
            <a:r>
              <a:rPr lang="en-US" sz="2000" smtClean="0">
                <a:latin typeface="Verdana" pitchFamily="34" charset="0"/>
              </a:rPr>
              <a:t>localhost/xuly.php?txtTukhoa=</a:t>
            </a:r>
            <a:r>
              <a:rPr lang="en-US" sz="2000" smtClean="0">
                <a:solidFill>
                  <a:srgbClr val="0070C0"/>
                </a:solidFill>
                <a:latin typeface="Verdana" pitchFamily="34" charset="0"/>
              </a:rPr>
              <a:t>“ABC”</a:t>
            </a:r>
            <a:endParaRPr lang="en-US" sz="2000" dirty="0" smtClean="0">
              <a:solidFill>
                <a:srgbClr val="0070C0"/>
              </a:solidFill>
              <a:latin typeface="Verdana" pitchFamily="34" charset="0"/>
            </a:endParaRP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endParaRPr lang="en-US" sz="2000" dirty="0" smtClean="0">
              <a:latin typeface="Verdana" pitchFamily="34" charset="0"/>
            </a:endParaRPr>
          </a:p>
          <a:p>
            <a:pPr marL="234950" lvl="1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Wingdings" pitchFamily="2" charset="2"/>
              <a:buChar char="§"/>
            </a:pPr>
            <a:r>
              <a:rPr lang="en-US" sz="20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Nhận</a:t>
            </a:r>
            <a:r>
              <a:rPr lang="en-US" sz="20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0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dữ</a:t>
            </a:r>
            <a:r>
              <a:rPr lang="en-US" sz="20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0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liệu</a:t>
            </a:r>
            <a:r>
              <a:rPr lang="en-US" sz="20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0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thông</a:t>
            </a:r>
            <a:r>
              <a:rPr lang="en-US" sz="20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qua </a:t>
            </a:r>
            <a:r>
              <a:rPr lang="en-US" sz="20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các</a:t>
            </a:r>
            <a:r>
              <a:rPr lang="en-US" sz="20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0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biến</a:t>
            </a:r>
            <a:r>
              <a:rPr lang="en-US" sz="20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0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toàn</a:t>
            </a:r>
            <a:r>
              <a:rPr lang="en-US" sz="20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0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cục</a:t>
            </a:r>
            <a:endParaRPr lang="en-US" sz="2000" dirty="0" smtClean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  <a:p>
            <a:pPr marL="664718" lvl="1" indent="-207963" algn="l">
              <a:lnSpc>
                <a:spcPct val="160000"/>
              </a:lnSpc>
              <a:buSzPct val="80000"/>
              <a:buFont typeface="Verdana" pitchFamily="34" charset="0"/>
              <a:buChar char="›"/>
            </a:pPr>
            <a:r>
              <a:rPr lang="en-US" sz="1800" dirty="0" smtClean="0">
                <a:solidFill>
                  <a:srgbClr val="0070C0"/>
                </a:solidFill>
                <a:latin typeface="Verdana" pitchFamily="34" charset="0"/>
              </a:rPr>
              <a:t>$_GET[“</a:t>
            </a:r>
            <a:r>
              <a:rPr lang="en-US" sz="1800" dirty="0" err="1" smtClean="0">
                <a:latin typeface="Verdana" pitchFamily="34" charset="0"/>
              </a:rPr>
              <a:t>FieldName</a:t>
            </a:r>
            <a:r>
              <a:rPr lang="en-US" sz="1800" dirty="0" smtClean="0">
                <a:latin typeface="Verdana" pitchFamily="34" charset="0"/>
              </a:rPr>
              <a:t>”</a:t>
            </a:r>
            <a:r>
              <a:rPr lang="en-US" sz="1800" dirty="0" smtClean="0">
                <a:solidFill>
                  <a:srgbClr val="0070C0"/>
                </a:solidFill>
                <a:latin typeface="Verdana" pitchFamily="34" charset="0"/>
              </a:rPr>
              <a:t>]</a:t>
            </a:r>
            <a:endParaRPr lang="en-US" sz="1800" dirty="0" smtClean="0">
              <a:solidFill>
                <a:srgbClr val="0070C0"/>
              </a:solidFill>
              <a:latin typeface="Verdana" pitchFamily="34" charset="0"/>
              <a:hlinkClick r:id="rId2"/>
            </a:endParaRPr>
          </a:p>
          <a:p>
            <a:pPr marL="664718" lvl="1" indent="-207963" algn="l">
              <a:lnSpc>
                <a:spcPct val="160000"/>
              </a:lnSpc>
              <a:buSzPct val="80000"/>
              <a:buFont typeface="Verdana" pitchFamily="34" charset="0"/>
              <a:buChar char="›"/>
            </a:pPr>
            <a:r>
              <a:rPr lang="en-US" sz="1800" dirty="0" smtClean="0">
                <a:solidFill>
                  <a:srgbClr val="0070C0"/>
                </a:solidFill>
                <a:latin typeface="Verdana" pitchFamily="34" charset="0"/>
              </a:rPr>
              <a:t>$_REQUEST[“</a:t>
            </a:r>
            <a:r>
              <a:rPr lang="en-US" sz="1800" dirty="0" err="1" smtClean="0">
                <a:latin typeface="Verdana" pitchFamily="34" charset="0"/>
              </a:rPr>
              <a:t>FieldName</a:t>
            </a:r>
            <a:r>
              <a:rPr lang="en-US" sz="1800" dirty="0" smtClean="0">
                <a:latin typeface="Verdana" pitchFamily="34" charset="0"/>
              </a:rPr>
              <a:t>”</a:t>
            </a:r>
            <a:r>
              <a:rPr lang="en-US" sz="1800" dirty="0" smtClean="0">
                <a:solidFill>
                  <a:srgbClr val="0070C0"/>
                </a:solidFill>
                <a:latin typeface="Verdana" pitchFamily="34" charset="0"/>
              </a:rPr>
              <a:t>]</a:t>
            </a:r>
            <a:endParaRPr lang="en-US" sz="1800" dirty="0" smtClean="0">
              <a:solidFill>
                <a:srgbClr val="0070C0"/>
              </a:solidFill>
              <a:latin typeface="Verdana" pitchFamily="34" charset="0"/>
              <a:hlinkClick r:id="rId2"/>
            </a:endParaRPr>
          </a:p>
          <a:p>
            <a:pPr marL="664718" lvl="1" indent="-207963" algn="l">
              <a:lnSpc>
                <a:spcPct val="160000"/>
              </a:lnSpc>
              <a:buSzPct val="80000"/>
              <a:buFont typeface="Verdana" pitchFamily="34" charset="0"/>
              <a:buChar char="›"/>
            </a:pPr>
            <a:endParaRPr lang="en-US" sz="1800" dirty="0" smtClean="0">
              <a:latin typeface="Verdana" pitchFamily="34" charset="0"/>
              <a:hlinkClick r:id="rId2"/>
            </a:endParaRPr>
          </a:p>
          <a:p>
            <a:pPr marL="692150" lvl="2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Verdana" pitchFamily="34" charset="0"/>
              <a:buChar char="●"/>
            </a:pPr>
            <a:endParaRPr lang="en-US" sz="1600" dirty="0" smtClean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Phương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thức GET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4294967295"/>
          </p:nvPr>
        </p:nvSpPr>
        <p:spPr>
          <a:xfrm>
            <a:off x="130626" y="576945"/>
            <a:ext cx="9013374" cy="5008562"/>
          </a:xfrm>
        </p:spPr>
        <p:txBody>
          <a:bodyPr>
            <a:noAutofit/>
          </a:bodyPr>
          <a:lstStyle/>
          <a:p>
            <a:pPr marL="234950" indent="-207963">
              <a:lnSpc>
                <a:spcPct val="16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Ưu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điểm</a:t>
            </a:r>
            <a:r>
              <a:rPr lang="en-US" sz="2400" dirty="0" smtClean="0">
                <a:latin typeface="Verdana" pitchFamily="34" charset="0"/>
              </a:rPr>
              <a:t>: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err="1" smtClean="0">
                <a:latin typeface="Verdana" pitchFamily="34" charset="0"/>
              </a:rPr>
              <a:t>Có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thể</a:t>
            </a:r>
            <a:r>
              <a:rPr lang="en-US" sz="2400" dirty="0" smtClean="0">
                <a:latin typeface="Verdana" pitchFamily="34" charset="0"/>
              </a:rPr>
              <a:t> bookmark </a:t>
            </a:r>
            <a:r>
              <a:rPr lang="en-US" sz="2400" dirty="0" err="1" smtClean="0">
                <a:latin typeface="Verdana" pitchFamily="34" charset="0"/>
              </a:rPr>
              <a:t>địa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chỉ</a:t>
            </a:r>
            <a:r>
              <a:rPr lang="en-US" sz="2400" dirty="0" smtClean="0">
                <a:latin typeface="Verdana" pitchFamily="34" charset="0"/>
              </a:rPr>
              <a:t> URL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err="1" smtClean="0">
                <a:latin typeface="Verdana" pitchFamily="34" charset="0"/>
              </a:rPr>
              <a:t>Có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thể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giả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lập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truyền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nhận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dữ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liệu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mà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không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thông</a:t>
            </a:r>
            <a:r>
              <a:rPr lang="en-US" sz="2400" dirty="0" smtClean="0">
                <a:latin typeface="Verdana" pitchFamily="34" charset="0"/>
              </a:rPr>
              <a:t> qua Form</a:t>
            </a:r>
          </a:p>
          <a:p>
            <a:pPr marL="234950" lvl="1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Verdana" pitchFamily="34" charset="0"/>
              <a:buChar char="●"/>
            </a:pPr>
            <a:endParaRPr lang="en-US" sz="2400" dirty="0" smtClean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  <a:p>
            <a:pPr marL="234950" lvl="1" indent="-207963" algn="l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§"/>
            </a:pP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Khuyết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điểm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: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err="1" smtClean="0">
                <a:latin typeface="Verdana" pitchFamily="34" charset="0"/>
              </a:rPr>
              <a:t>Không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có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tính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bảo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mật</a:t>
            </a:r>
            <a:r>
              <a:rPr lang="en-US" sz="2400" dirty="0" smtClean="0">
                <a:latin typeface="Verdana" pitchFamily="34" charset="0"/>
              </a:rPr>
              <a:t> 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smtClean="0">
                <a:latin typeface="Verdana" pitchFamily="34" charset="0"/>
              </a:rPr>
              <a:t>Dung </a:t>
            </a:r>
            <a:r>
              <a:rPr lang="en-US" sz="2400" dirty="0" err="1" smtClean="0">
                <a:latin typeface="Verdana" pitchFamily="34" charset="0"/>
              </a:rPr>
              <a:t>lượng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giới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hạn</a:t>
            </a:r>
            <a:endParaRPr lang="en-US" sz="2400" dirty="0" smtClean="0">
              <a:latin typeface="Verdana" pitchFamily="34" charset="0"/>
            </a:endParaRP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smtClean="0">
                <a:latin typeface="Verdana" pitchFamily="34" charset="0"/>
              </a:rPr>
              <a:t>URL submit </a:t>
            </a:r>
            <a:r>
              <a:rPr lang="en-US" sz="2400" dirty="0" err="1" smtClean="0">
                <a:latin typeface="Verdana" pitchFamily="34" charset="0"/>
              </a:rPr>
              <a:t>được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lưu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lại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trên</a:t>
            </a:r>
            <a:r>
              <a:rPr lang="en-US" sz="2400" dirty="0" smtClean="0">
                <a:latin typeface="Verdana" pitchFamily="34" charset="0"/>
              </a:rPr>
              <a:t> Server</a:t>
            </a:r>
          </a:p>
          <a:p>
            <a:pPr marL="664718" lvl="1" indent="-207963" algn="l">
              <a:lnSpc>
                <a:spcPct val="160000"/>
              </a:lnSpc>
              <a:buSzPct val="80000"/>
              <a:buFont typeface="Verdana" pitchFamily="34" charset="0"/>
              <a:buChar char="›"/>
            </a:pPr>
            <a:endParaRPr lang="en-US" sz="2400" dirty="0" smtClean="0">
              <a:latin typeface="Verdana" pitchFamily="34" charset="0"/>
              <a:hlinkClick r:id="rId2"/>
            </a:endParaRPr>
          </a:p>
          <a:p>
            <a:pPr marL="692150" lvl="2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Verdana" pitchFamily="34" charset="0"/>
              <a:buChar char="●"/>
            </a:pPr>
            <a:endParaRPr lang="en-US" dirty="0" smtClean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Phương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thức GET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4294967295"/>
          </p:nvPr>
        </p:nvSpPr>
        <p:spPr>
          <a:xfrm>
            <a:off x="381000" y="685800"/>
            <a:ext cx="8382000" cy="4703762"/>
          </a:xfrm>
        </p:spPr>
        <p:txBody>
          <a:bodyPr>
            <a:normAutofit/>
          </a:bodyPr>
          <a:lstStyle/>
          <a:p>
            <a:pPr marL="234950" indent="-207963">
              <a:lnSpc>
                <a:spcPct val="16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Tham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số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truyền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ẩn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bên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trong</a:t>
            </a:r>
            <a:endParaRPr lang="en-US" sz="2400" dirty="0" smtClean="0">
              <a:latin typeface="Verdana" pitchFamily="34" charset="0"/>
            </a:endParaRPr>
          </a:p>
          <a:p>
            <a:pPr marL="664718" lvl="1" indent="-207963" algn="l">
              <a:lnSpc>
                <a:spcPct val="160000"/>
              </a:lnSpc>
              <a:buFont typeface="Wingdings" pitchFamily="2" charset="2"/>
              <a:buChar char="§"/>
            </a:pPr>
            <a:endParaRPr lang="en-US" sz="2400" dirty="0" smtClean="0">
              <a:latin typeface="Verdana" pitchFamily="34" charset="0"/>
            </a:endParaRPr>
          </a:p>
          <a:p>
            <a:pPr marL="234950" lvl="1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Wingdings" pitchFamily="2" charset="2"/>
              <a:buChar char="§"/>
            </a:pP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Nhận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dữ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liệu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thông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qua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các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biến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toàn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cục</a:t>
            </a:r>
            <a:endParaRPr lang="en-US" sz="2400" dirty="0" smtClean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  <a:p>
            <a:pPr marL="664718" lvl="1" indent="-207963" algn="l">
              <a:lnSpc>
                <a:spcPct val="160000"/>
              </a:lnSpc>
              <a:buSzPct val="80000"/>
              <a:buFont typeface="Verdana" pitchFamily="34" charset="0"/>
              <a:buChar char="›"/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$_POST[“</a:t>
            </a:r>
            <a:r>
              <a:rPr lang="en-US" sz="2400" dirty="0" err="1" smtClean="0">
                <a:latin typeface="Verdana" pitchFamily="34" charset="0"/>
              </a:rPr>
              <a:t>FieldName</a:t>
            </a:r>
            <a:r>
              <a:rPr lang="en-US" sz="2400" dirty="0" smtClean="0">
                <a:latin typeface="Verdana" pitchFamily="34" charset="0"/>
              </a:rPr>
              <a:t>”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]</a:t>
            </a:r>
            <a:endParaRPr lang="en-US" sz="2400" dirty="0" smtClean="0">
              <a:solidFill>
                <a:srgbClr val="0070C0"/>
              </a:solidFill>
              <a:latin typeface="Verdana" pitchFamily="34" charset="0"/>
              <a:hlinkClick r:id="rId2"/>
            </a:endParaRPr>
          </a:p>
          <a:p>
            <a:pPr marL="664718" lvl="1" indent="-207963" algn="l">
              <a:lnSpc>
                <a:spcPct val="160000"/>
              </a:lnSpc>
              <a:buSzPct val="80000"/>
              <a:buFont typeface="Verdana" pitchFamily="34" charset="0"/>
              <a:buChar char="›"/>
            </a:pP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$_REQUEST[“</a:t>
            </a:r>
            <a:r>
              <a:rPr lang="en-US" sz="2400" dirty="0" err="1" smtClean="0">
                <a:latin typeface="Verdana" pitchFamily="34" charset="0"/>
              </a:rPr>
              <a:t>FieldName</a:t>
            </a:r>
            <a:r>
              <a:rPr lang="en-US" sz="2400" dirty="0" smtClean="0">
                <a:latin typeface="Verdana" pitchFamily="34" charset="0"/>
              </a:rPr>
              <a:t>”</a:t>
            </a:r>
            <a:r>
              <a:rPr lang="en-US" sz="2400" dirty="0" smtClean="0">
                <a:solidFill>
                  <a:srgbClr val="0070C0"/>
                </a:solidFill>
                <a:latin typeface="Verdana" pitchFamily="34" charset="0"/>
              </a:rPr>
              <a:t>]</a:t>
            </a:r>
            <a:endParaRPr lang="en-US" sz="2400" dirty="0" smtClean="0">
              <a:solidFill>
                <a:srgbClr val="0070C0"/>
              </a:solidFill>
              <a:latin typeface="Verdana" pitchFamily="34" charset="0"/>
              <a:hlinkClick r:id="rId2"/>
            </a:endParaRPr>
          </a:p>
          <a:p>
            <a:pPr marL="664718" lvl="1" indent="-207963" algn="l">
              <a:lnSpc>
                <a:spcPct val="160000"/>
              </a:lnSpc>
              <a:buSzPct val="80000"/>
              <a:buFont typeface="Verdana" pitchFamily="34" charset="0"/>
              <a:buChar char="›"/>
            </a:pPr>
            <a:endParaRPr lang="en-US" sz="2400" dirty="0" smtClean="0">
              <a:latin typeface="Verdana" pitchFamily="34" charset="0"/>
              <a:hlinkClick r:id="rId2"/>
            </a:endParaRPr>
          </a:p>
          <a:p>
            <a:pPr marL="692150" lvl="2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Verdana" pitchFamily="34" charset="0"/>
              <a:buChar char="●"/>
            </a:pPr>
            <a:endParaRPr lang="en-US" dirty="0" smtClean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Phương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thức POST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4294967295"/>
          </p:nvPr>
        </p:nvSpPr>
        <p:spPr>
          <a:xfrm>
            <a:off x="304800" y="762000"/>
            <a:ext cx="8382000" cy="5008562"/>
          </a:xfrm>
        </p:spPr>
        <p:txBody>
          <a:bodyPr>
            <a:noAutofit/>
          </a:bodyPr>
          <a:lstStyle/>
          <a:p>
            <a:pPr marL="234950" indent="-207963">
              <a:lnSpc>
                <a:spcPct val="16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Verdana" pitchFamily="34" charset="0"/>
              </a:rPr>
              <a:t>Ưu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điểm</a:t>
            </a:r>
            <a:r>
              <a:rPr lang="en-US" sz="2400" dirty="0" smtClean="0">
                <a:latin typeface="Verdana" pitchFamily="34" charset="0"/>
              </a:rPr>
              <a:t>: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err="1" smtClean="0">
                <a:latin typeface="Verdana" pitchFamily="34" charset="0"/>
              </a:rPr>
              <a:t>Bảo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mật</a:t>
            </a:r>
            <a:endParaRPr lang="en-US" sz="2400" dirty="0" smtClean="0">
              <a:latin typeface="Verdana" pitchFamily="34" charset="0"/>
            </a:endParaRP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err="1" smtClean="0">
                <a:latin typeface="Verdana" pitchFamily="34" charset="0"/>
              </a:rPr>
              <a:t>Không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giới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hạn</a:t>
            </a:r>
            <a:r>
              <a:rPr lang="en-US" sz="2400" dirty="0" smtClean="0">
                <a:latin typeface="Verdana" pitchFamily="34" charset="0"/>
              </a:rPr>
              <a:t> dung </a:t>
            </a:r>
            <a:r>
              <a:rPr lang="en-US" sz="2400" dirty="0" err="1" smtClean="0">
                <a:latin typeface="Verdana" pitchFamily="34" charset="0"/>
              </a:rPr>
              <a:t>lượng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truyền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dữ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liệu</a:t>
            </a:r>
            <a:endParaRPr lang="en-US" sz="2400" dirty="0" smtClean="0">
              <a:latin typeface="Verdana" pitchFamily="34" charset="0"/>
            </a:endParaRPr>
          </a:p>
          <a:p>
            <a:pPr marL="234950" lvl="1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Verdana" pitchFamily="34" charset="0"/>
              <a:buChar char="●"/>
            </a:pPr>
            <a:endParaRPr lang="en-US" sz="2400" dirty="0" smtClean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  <a:p>
            <a:pPr marL="234950" lvl="1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Wingdings" pitchFamily="2" charset="2"/>
              <a:buChar char="§"/>
            </a:pP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Khuyết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điểm</a:t>
            </a: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  <a:latin typeface="Verdana" pitchFamily="34" charset="0"/>
              </a:rPr>
              <a:t>: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err="1" smtClean="0">
                <a:latin typeface="Verdana" pitchFamily="34" charset="0"/>
              </a:rPr>
              <a:t>Trang</a:t>
            </a:r>
            <a:r>
              <a:rPr lang="en-US" sz="2400" dirty="0" smtClean="0">
                <a:latin typeface="Verdana" pitchFamily="34" charset="0"/>
              </a:rPr>
              <a:t> web </a:t>
            </a:r>
            <a:r>
              <a:rPr lang="en-US" sz="2400" dirty="0" err="1" smtClean="0">
                <a:latin typeface="Verdana" pitchFamily="34" charset="0"/>
              </a:rPr>
              <a:t>trả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về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không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thể</a:t>
            </a:r>
            <a:r>
              <a:rPr lang="en-US" sz="2400" dirty="0" smtClean="0">
                <a:latin typeface="Verdana" pitchFamily="34" charset="0"/>
              </a:rPr>
              <a:t> bookmark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err="1" smtClean="0">
                <a:latin typeface="Verdana" pitchFamily="34" charset="0"/>
              </a:rPr>
              <a:t>Có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thể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bị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lỗi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khi</a:t>
            </a:r>
            <a:r>
              <a:rPr lang="en-US" sz="2400" dirty="0" smtClean="0">
                <a:latin typeface="Verdana" pitchFamily="34" charset="0"/>
              </a:rPr>
              <a:t> Back </a:t>
            </a:r>
            <a:r>
              <a:rPr lang="en-US" sz="2400" dirty="0" err="1" smtClean="0">
                <a:latin typeface="Verdana" pitchFamily="34" charset="0"/>
              </a:rPr>
              <a:t>hoặc</a:t>
            </a:r>
            <a:r>
              <a:rPr lang="en-US" sz="2400" dirty="0" smtClean="0">
                <a:latin typeface="Verdana" pitchFamily="34" charset="0"/>
              </a:rPr>
              <a:t> Refresh (expired)</a:t>
            </a:r>
          </a:p>
          <a:p>
            <a:pPr marL="664718" lvl="1" indent="-207963" algn="l">
              <a:lnSpc>
                <a:spcPct val="160000"/>
              </a:lnSpc>
              <a:buFont typeface="Verdana" pitchFamily="34" charset="0"/>
              <a:buChar char="›"/>
            </a:pPr>
            <a:r>
              <a:rPr lang="en-US" sz="2400" dirty="0" smtClean="0">
                <a:latin typeface="Verdana" pitchFamily="34" charset="0"/>
              </a:rPr>
              <a:t>Security </a:t>
            </a:r>
            <a:r>
              <a:rPr lang="en-US" sz="2400" dirty="0" err="1" smtClean="0">
                <a:latin typeface="Verdana" pitchFamily="34" charset="0"/>
              </a:rPr>
              <a:t>gây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khó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khăn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cho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vấn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đề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truyền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dữ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</a:rPr>
              <a:t>liệu</a:t>
            </a:r>
            <a:endParaRPr lang="en-US" sz="2400" dirty="0" smtClean="0">
              <a:latin typeface="Verdana" pitchFamily="34" charset="0"/>
            </a:endParaRPr>
          </a:p>
          <a:p>
            <a:pPr marL="664718" lvl="1" indent="-207963" algn="l">
              <a:lnSpc>
                <a:spcPct val="160000"/>
              </a:lnSpc>
              <a:buSzPct val="80000"/>
              <a:buFont typeface="Verdana" pitchFamily="34" charset="0"/>
              <a:buChar char="›"/>
            </a:pPr>
            <a:endParaRPr lang="en-US" sz="2400" dirty="0" smtClean="0">
              <a:latin typeface="Verdana" pitchFamily="34" charset="0"/>
              <a:hlinkClick r:id="rId2"/>
            </a:endParaRPr>
          </a:p>
          <a:p>
            <a:pPr marL="692150" lvl="2" indent="-207963" algn="l">
              <a:lnSpc>
                <a:spcPct val="170000"/>
              </a:lnSpc>
              <a:spcBef>
                <a:spcPts val="600"/>
              </a:spcBef>
              <a:buSzPct val="80000"/>
              <a:buFont typeface="Verdana" pitchFamily="34" charset="0"/>
              <a:buChar char="●"/>
            </a:pPr>
            <a:endParaRPr lang="en-US" dirty="0" smtClean="0">
              <a:solidFill>
                <a:schemeClr val="tx2">
                  <a:shade val="30000"/>
                  <a:satMod val="150000"/>
                </a:schemeClr>
              </a:solidFill>
              <a:latin typeface="Verdana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Phương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thức POST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Một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số ví dụ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3" name="Picture 2" descr="GetPhp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3" y="1045026"/>
            <a:ext cx="6800850" cy="7143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 descr="nhandangPHPB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4419600"/>
            <a:ext cx="3133540" cy="12858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nhandangPHPD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438397"/>
            <a:ext cx="5915025" cy="10477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 descr="GetPhpB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987700"/>
            <a:ext cx="2667000" cy="21083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3" name="Straight Arrow Connector 12"/>
          <p:cNvCxnSpPr/>
          <p:nvPr/>
        </p:nvCxnSpPr>
        <p:spPr>
          <a:xfrm flipV="1">
            <a:off x="1828800" y="4648200"/>
            <a:ext cx="3733800" cy="1066800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4800" y="533400"/>
            <a:ext cx="158001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Get.html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0025" y="1924050"/>
            <a:ext cx="27432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nhandang</a:t>
            </a:r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562600" y="3886200"/>
            <a:ext cx="27432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nhandang</a:t>
            </a:r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24000" y="3581400"/>
            <a:ext cx="158001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Get.html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Một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số ví dụ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3" name="Picture 2" descr="checkboxPHP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4" y="533403"/>
            <a:ext cx="7913916" cy="36861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checkboxPHPBr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84" y="3962400"/>
            <a:ext cx="4191000" cy="23462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 descr="checkboxPHPBr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649" y="4062645"/>
            <a:ext cx="4572000" cy="23381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 flipV="1">
            <a:off x="1447800" y="4648200"/>
            <a:ext cx="6324600" cy="838200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0" y="5715000"/>
            <a:ext cx="295161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Checkbox</a:t>
            </a:r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Một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số ví dụ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3" name="Picture 2" descr="radioPHP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" y="544290"/>
            <a:ext cx="7991475" cy="33432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 descr="radioPHPbr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810000"/>
            <a:ext cx="3048000" cy="24993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radioPHPbr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3581400"/>
            <a:ext cx="5334000" cy="233553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 flipV="1">
            <a:off x="1600200" y="4114800"/>
            <a:ext cx="6553200" cy="1371600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019800" y="5334000"/>
            <a:ext cx="295161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Radio</a:t>
            </a:r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Một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số ví dụ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4" name="Picture 3" descr="ComboPHPB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238500"/>
            <a:ext cx="6934200" cy="306762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Picture 2" descr="ComboPHPD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514351"/>
            <a:ext cx="6553200" cy="402826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5" name="Straight Arrow Connector 4"/>
          <p:cNvCxnSpPr/>
          <p:nvPr/>
        </p:nvCxnSpPr>
        <p:spPr>
          <a:xfrm flipV="1">
            <a:off x="2895600" y="4191000"/>
            <a:ext cx="5181600" cy="1295400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0" y="5715000"/>
            <a:ext cx="295161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combobox</a:t>
            </a:r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Một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số ví dụ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4" name="Picture 3" descr="listbox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7553325" cy="45529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Picture 2" descr="listboxB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10000"/>
            <a:ext cx="2419350" cy="23812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2133600" y="5486400"/>
            <a:ext cx="295161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Listbox</a:t>
            </a:r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Một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số ví dụ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3" name="Picture 2" descr="namePHP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9144000" cy="38682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 descr="namePHPB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4" y="4038601"/>
            <a:ext cx="8271166" cy="27432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4495800" y="5562600"/>
            <a:ext cx="295161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Names</a:t>
            </a:r>
            <a:r>
              <a:rPr lang="en-US" sz="28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.php</a:t>
            </a:r>
            <a:endParaRPr lang="en-US" sz="2800" b="1" cap="none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97568" y="6180304"/>
            <a:ext cx="4956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>
                <a:latin typeface="Verdana" pitchFamily="34" charset="0"/>
              </a:rPr>
              <a:t>Sử dụng mảng trong truyền nhận dữ liệu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Một</a:t>
            </a:r>
            <a:r>
              <a:rPr kumimoji="0" lang="de-DE" sz="2800" i="0" u="none" strike="noStrike" kern="1200" cap="none" spc="0" normalizeH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số ví dụ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533400"/>
            <a:ext cx="86106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latin typeface="Verdana" pitchFamily="34" charset="0"/>
              </a:rPr>
              <a:t>Demo (Reference từ Examples của Thầy Cao Thanh)</a:t>
            </a:r>
            <a:r>
              <a:rPr lang="vi-VN" sz="2000" smtClean="0">
                <a:latin typeface="Verdana" pitchFamily="34" charset="0"/>
              </a:rPr>
              <a:t>:</a:t>
            </a:r>
            <a:r>
              <a:rPr lang="en-US" sz="2000" smtClean="0">
                <a:latin typeface="Verdana" pitchFamily="34" charset="0"/>
              </a:rPr>
              <a:t> </a:t>
            </a:r>
            <a:r>
              <a:rPr lang="en-US" sz="2000" smtClean="0">
                <a:latin typeface="Verdana" pitchFamily="34" charset="0"/>
                <a:sym typeface="Wingdings" pitchFamily="2" charset="2"/>
              </a:rPr>
              <a:t></a:t>
            </a:r>
            <a:r>
              <a:rPr lang="vi-VN" sz="2000" smtClean="0">
                <a:latin typeface="Verdana" pitchFamily="34" charset="0"/>
              </a:rPr>
              <a:t> </a:t>
            </a:r>
            <a:endParaRPr lang="en-US" sz="200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sz="2000" smtClean="0">
              <a:latin typeface="Verdana" pitchFamily="34" charset="0"/>
              <a:hlinkClick r:id="rId2"/>
            </a:endParaRPr>
          </a:p>
          <a:p>
            <a:pPr>
              <a:lnSpc>
                <a:spcPct val="150000"/>
              </a:lnSpc>
            </a:pPr>
            <a:r>
              <a:rPr lang="vi-VN" sz="2000" smtClean="0">
                <a:latin typeface="Verdana" pitchFamily="34" charset="0"/>
                <a:hlinkClick r:id="rId2"/>
              </a:rPr>
              <a:t>http://localhost/</a:t>
            </a:r>
            <a:r>
              <a:rPr lang="en-US" sz="2000" smtClean="0">
                <a:latin typeface="Verdana" pitchFamily="34" charset="0"/>
                <a:hlinkClick r:id="rId2"/>
              </a:rPr>
              <a:t>T06</a:t>
            </a:r>
            <a:r>
              <a:rPr lang="vi-VN" sz="2000" smtClean="0">
                <a:latin typeface="Verdana" pitchFamily="34" charset="0"/>
                <a:hlinkClick r:id="rId2"/>
              </a:rPr>
              <a:t>/dangnhap.php</a:t>
            </a:r>
            <a:endParaRPr lang="en-US" sz="2000" smtClean="0">
              <a:latin typeface="Verdana" pitchFamily="34" charset="0"/>
            </a:endParaRPr>
          </a:p>
          <a:p>
            <a:pPr marL="457200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000" smtClean="0">
                <a:latin typeface="Verdana" pitchFamily="34" charset="0"/>
              </a:rPr>
              <a:t>Client gửi dữ liệu bằng phương thức get</a:t>
            </a:r>
          </a:p>
          <a:p>
            <a:pPr marL="457200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000" smtClean="0">
                <a:latin typeface="Verdana" pitchFamily="34" charset="0"/>
              </a:rPr>
              <a:t>File gửi dữ liệu tách rời file xử lý &amp; hiển thị kết quả</a:t>
            </a:r>
          </a:p>
          <a:p>
            <a:pPr marL="457200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000" smtClean="0">
                <a:latin typeface="Verdana" pitchFamily="34" charset="0"/>
              </a:rPr>
              <a:t>Trong ví dụ có HTML form + JavaScript DOM + PHP</a:t>
            </a:r>
          </a:p>
          <a:p>
            <a:pPr>
              <a:lnSpc>
                <a:spcPct val="150000"/>
              </a:lnSpc>
            </a:pPr>
            <a:endParaRPr lang="en-US" sz="200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2000" smtClean="0">
                <a:latin typeface="Verdana" pitchFamily="34" charset="0"/>
                <a:hlinkClick r:id="rId3"/>
              </a:rPr>
              <a:t>http://localhost/</a:t>
            </a:r>
            <a:r>
              <a:rPr lang="en-US" sz="2000" smtClean="0">
                <a:latin typeface="Verdana" pitchFamily="34" charset="0"/>
                <a:hlinkClick r:id="rId3"/>
              </a:rPr>
              <a:t>T06</a:t>
            </a:r>
            <a:r>
              <a:rPr lang="vi-VN" sz="2000" smtClean="0">
                <a:latin typeface="Verdana" pitchFamily="34" charset="0"/>
                <a:hlinkClick r:id="rId3"/>
              </a:rPr>
              <a:t>/form.php</a:t>
            </a:r>
            <a:endParaRPr lang="vi-VN" sz="2000" smtClean="0">
              <a:latin typeface="Verdana" pitchFamily="34" charset="0"/>
            </a:endParaRPr>
          </a:p>
          <a:p>
            <a:pPr marL="457200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000" smtClean="0">
                <a:latin typeface="Verdana" pitchFamily="34" charset="0"/>
              </a:rPr>
              <a:t>Client gửi dữ liệu bằng phương thức post</a:t>
            </a:r>
          </a:p>
          <a:p>
            <a:pPr marL="457200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000" smtClean="0">
                <a:latin typeface="Verdana" pitchFamily="34" charset="0"/>
              </a:rPr>
              <a:t>File form vừa gửi dữ liệu vừa xử lý &amp; hiển thị kết quả</a:t>
            </a:r>
          </a:p>
          <a:p>
            <a:pPr marL="457200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000" smtClean="0">
                <a:latin typeface="Verdana" pitchFamily="34" charset="0"/>
              </a:rPr>
              <a:t>File form.php là 1 file kết hợp.</a:t>
            </a:r>
            <a:endParaRPr lang="en-US" sz="2000" smtClean="0"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85800"/>
            <a:ext cx="85344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  <a:hlinkClick r:id="rId2"/>
              </a:rPr>
              <a:t>http</a:t>
            </a:r>
            <a:r>
              <a:rPr lang="en-US" sz="2800" smtClean="0">
                <a:latin typeface="Verdana" pitchFamily="34" charset="0"/>
                <a:hlinkClick r:id="rId2"/>
              </a:rPr>
              <a:t>://www.w3schools.com/php/</a:t>
            </a:r>
            <a:endParaRPr lang="en-US" sz="2800" dirty="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smtClean="0">
                <a:latin typeface="Verdana" pitchFamily="34" charset="0"/>
                <a:hlinkClick r:id="rId3"/>
              </a:rPr>
              <a:t>http://vn2.php.net/manual/en/langref.php</a:t>
            </a:r>
            <a:endParaRPr lang="en-US" sz="280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smtClean="0">
                <a:latin typeface="Verdana" pitchFamily="34" charset="0"/>
                <a:hlinkClick r:id="rId4"/>
              </a:rPr>
              <a:t>http://vn2.php.net/manual/en/funcref.php</a:t>
            </a:r>
            <a:endParaRPr lang="en-US" sz="280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smtClean="0">
                <a:latin typeface="Verdana" pitchFamily="34" charset="0"/>
              </a:rPr>
              <a:t>Google ….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sz="2800" dirty="0" smtClean="0"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Bài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thực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err="1" smtClean="0">
                <a:solidFill>
                  <a:schemeClr val="bg1"/>
                </a:solidFill>
                <a:latin typeface="Verdana" pitchFamily="34" charset="0"/>
              </a:rPr>
              <a:t>hành</a:t>
            </a:r>
            <a:r>
              <a:rPr lang="en-US" sz="2800" smtClean="0">
                <a:solidFill>
                  <a:schemeClr val="bg1"/>
                </a:solidFill>
                <a:latin typeface="Verdana" pitchFamily="34" charset="0"/>
              </a:rPr>
              <a:t> PHP truyền nhận dữ liệu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3400"/>
            <a:ext cx="9144000" cy="651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smtClean="0">
                <a:latin typeface="Verdana" pitchFamily="34" charset="0"/>
              </a:rPr>
              <a:t> Thực hành lại các bài đã Demo.</a:t>
            </a:r>
            <a:endParaRPr lang="en-US" sz="2800" dirty="0" smtClean="0">
              <a:latin typeface="Verdana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61&quot;/&gt;&lt;/object&gt;&lt;object type=&quot;3&quot; unique_id=&quot;10052&quot;&gt;&lt;property id=&quot;20148&quot; value=&quot;5&quot;/&gt;&lt;property id=&quot;20300&quot; value=&quot;Slide 31&quot;/&gt;&lt;property id=&quot;20307&quot; value=&quot;287&quot;/&gt;&lt;/object&gt;&lt;object type=&quot;3&quot; unique_id=&quot;10053&quot;&gt;&lt;property id=&quot;20148&quot; value=&quot;5&quot;/&gt;&lt;property id=&quot;20300&quot; value=&quot;Slide 32&quot;/&gt;&lt;property id=&quot;20307&quot; value=&quot;260&quot;/&gt;&lt;/object&gt;&lt;object type=&quot;3&quot; unique_id=&quot;10057&quot;&gt;&lt;property id=&quot;20148&quot; value=&quot;5&quot;/&gt;&lt;property id=&quot;20300&quot; value=&quot;Slide 33&quot;/&gt;&lt;property id=&quot;20307&quot; value=&quot;283&quot;/&gt;&lt;/object&gt;&lt;object type=&quot;3&quot; unique_id=&quot;10058&quot;&gt;&lt;property id=&quot;20148&quot; value=&quot;5&quot;/&gt;&lt;property id=&quot;20300&quot; value=&quot;Slide 34&quot;/&gt;&lt;property id=&quot;20307&quot; value=&quot;257&quot;/&gt;&lt;/object&gt;&lt;object type=&quot;3&quot; unique_id=&quot;11078&quot;&gt;&lt;property id=&quot;20148&quot; value=&quot;5&quot;/&gt;&lt;property id=&quot;20300&quot; value=&quot;Slide 3&quot;/&gt;&lt;property id=&quot;20307&quot; value=&quot;288&quot;/&gt;&lt;/object&gt;&lt;object type=&quot;3&quot; unique_id=&quot;11079&quot;&gt;&lt;property id=&quot;20148&quot; value=&quot;5&quot;/&gt;&lt;property id=&quot;20300&quot; value=&quot;Slide 4&quot;/&gt;&lt;property id=&quot;20307&quot; value=&quot;289&quot;/&gt;&lt;/object&gt;&lt;object type=&quot;3&quot; unique_id=&quot;11126&quot;&gt;&lt;property id=&quot;20148&quot; value=&quot;5&quot;/&gt;&lt;property id=&quot;20300&quot; value=&quot;Slide 5&quot;/&gt;&lt;property id=&quot;20307&quot; value=&quot;290&quot;/&gt;&lt;/object&gt;&lt;object type=&quot;3&quot; unique_id=&quot;11187&quot;&gt;&lt;property id=&quot;20148&quot; value=&quot;5&quot;/&gt;&lt;property id=&quot;20300&quot; value=&quot;Slide 6&quot;/&gt;&lt;property id=&quot;20307&quot; value=&quot;291&quot;/&gt;&lt;/object&gt;&lt;object type=&quot;3&quot; unique_id=&quot;11188&quot;&gt;&lt;property id=&quot;20148&quot; value=&quot;5&quot;/&gt;&lt;property id=&quot;20300&quot; value=&quot;Slide 7&quot;/&gt;&lt;property id=&quot;20307&quot; value=&quot;292&quot;/&gt;&lt;/object&gt;&lt;object type=&quot;3&quot; unique_id=&quot;11189&quot;&gt;&lt;property id=&quot;20148&quot; value=&quot;5&quot;/&gt;&lt;property id=&quot;20300&quot; value=&quot;Slide 8&quot;/&gt;&lt;property id=&quot;20307&quot; value=&quot;293&quot;/&gt;&lt;/object&gt;&lt;object type=&quot;3&quot; unique_id=&quot;11295&quot;&gt;&lt;property id=&quot;20148&quot; value=&quot;5&quot;/&gt;&lt;property id=&quot;20300&quot; value=&quot;Slide 9&quot;/&gt;&lt;property id=&quot;20307&quot; value=&quot;294&quot;/&gt;&lt;/object&gt;&lt;object type=&quot;3&quot; unique_id=&quot;11392&quot;&gt;&lt;property id=&quot;20148&quot; value=&quot;5&quot;/&gt;&lt;property id=&quot;20300&quot; value=&quot;Slide 10&quot;/&gt;&lt;property id=&quot;20307&quot; value=&quot;296&quot;/&gt;&lt;/object&gt;&lt;object type=&quot;3&quot; unique_id=&quot;11393&quot;&gt;&lt;property id=&quot;20148&quot; value=&quot;5&quot;/&gt;&lt;property id=&quot;20300&quot; value=&quot;Slide 11&quot;/&gt;&lt;property id=&quot;20307&quot; value=&quot;297&quot;/&gt;&lt;/object&gt;&lt;object type=&quot;3&quot; unique_id=&quot;11525&quot;&gt;&lt;property id=&quot;20148&quot; value=&quot;5&quot;/&gt;&lt;property id=&quot;20300&quot; value=&quot;Slide 12&quot;/&gt;&lt;property id=&quot;20307&quot; value=&quot;298&quot;/&gt;&lt;/object&gt;&lt;object type=&quot;3&quot; unique_id=&quot;11526&quot;&gt;&lt;property id=&quot;20148&quot; value=&quot;5&quot;/&gt;&lt;property id=&quot;20300&quot; value=&quot;Slide 13&quot;/&gt;&lt;property id=&quot;20307&quot; value=&quot;299&quot;/&gt;&lt;/object&gt;&lt;object type=&quot;3&quot; unique_id=&quot;11527&quot;&gt;&lt;property id=&quot;20148&quot; value=&quot;5&quot;/&gt;&lt;property id=&quot;20300&quot; value=&quot;Slide 14&quot;/&gt;&lt;property id=&quot;20307&quot; value=&quot;300&quot;/&gt;&lt;/object&gt;&lt;object type=&quot;3&quot; unique_id=&quot;11591&quot;&gt;&lt;property id=&quot;20148&quot; value=&quot;5&quot;/&gt;&lt;property id=&quot;20300&quot; value=&quot;Slide 15&quot;/&gt;&lt;property id=&quot;20307&quot; value=&quot;301&quot;/&gt;&lt;/object&gt;&lt;object type=&quot;3&quot; unique_id=&quot;11702&quot;&gt;&lt;property id=&quot;20148&quot; value=&quot;5&quot;/&gt;&lt;property id=&quot;20300&quot; value=&quot;Slide 16&quot;/&gt;&lt;property id=&quot;20307&quot; value=&quot;302&quot;/&gt;&lt;/object&gt;&lt;object type=&quot;3&quot; unique_id=&quot;11864&quot;&gt;&lt;property id=&quot;20148&quot; value=&quot;5&quot;/&gt;&lt;property id=&quot;20300&quot; value=&quot;Slide 17&quot;/&gt;&lt;property id=&quot;20307&quot; value=&quot;303&quot;/&gt;&lt;/object&gt;&lt;object type=&quot;3&quot; unique_id=&quot;11865&quot;&gt;&lt;property id=&quot;20148&quot; value=&quot;5&quot;/&gt;&lt;property id=&quot;20300&quot; value=&quot;Slide 20&quot;/&gt;&lt;property id=&quot;20307&quot; value=&quot;304&quot;/&gt;&lt;/object&gt;&lt;object type=&quot;3&quot; unique_id=&quot;11866&quot;&gt;&lt;property id=&quot;20148&quot; value=&quot;5&quot;/&gt;&lt;property id=&quot;20300&quot; value=&quot;Slide 21&quot;/&gt;&lt;property id=&quot;20307&quot; value=&quot;305&quot;/&gt;&lt;/object&gt;&lt;object type=&quot;3&quot; unique_id=&quot;11867&quot;&gt;&lt;property id=&quot;20148&quot; value=&quot;5&quot;/&gt;&lt;property id=&quot;20300&quot; value=&quot;Slide 22&quot;/&gt;&lt;property id=&quot;20307&quot; value=&quot;306&quot;/&gt;&lt;/object&gt;&lt;object type=&quot;3&quot; unique_id=&quot;11868&quot;&gt;&lt;property id=&quot;20148&quot; value=&quot;5&quot;/&gt;&lt;property id=&quot;20300&quot; value=&quot;Slide 23&quot;/&gt;&lt;property id=&quot;20307&quot; value=&quot;307&quot;/&gt;&lt;/object&gt;&lt;object type=&quot;3&quot; unique_id=&quot;12065&quot;&gt;&lt;property id=&quot;20148&quot; value=&quot;5&quot;/&gt;&lt;property id=&quot;20300&quot; value=&quot;Slide 18&quot;/&gt;&lt;property id=&quot;20307&quot; value=&quot;308&quot;/&gt;&lt;/object&gt;&lt;object type=&quot;3&quot; unique_id=&quot;12443&quot;&gt;&lt;property id=&quot;20148&quot; value=&quot;5&quot;/&gt;&lt;property id=&quot;20300&quot; value=&quot;Slide 19&quot;/&gt;&lt;property id=&quot;20307&quot; value=&quot;309&quot;/&gt;&lt;/object&gt;&lt;object type=&quot;3&quot; unique_id=&quot;12654&quot;&gt;&lt;property id=&quot;20148&quot; value=&quot;5&quot;/&gt;&lt;property id=&quot;20300&quot; value=&quot;Slide 24&quot;/&gt;&lt;property id=&quot;20307&quot; value=&quot;310&quot;/&gt;&lt;/object&gt;&lt;object type=&quot;3&quot; unique_id=&quot;12965&quot;&gt;&lt;property id=&quot;20148&quot; value=&quot;5&quot;/&gt;&lt;property id=&quot;20300&quot; value=&quot;Slide 26&quot;/&gt;&lt;property id=&quot;20307&quot; value=&quot;311&quot;/&gt;&lt;/object&gt;&lt;object type=&quot;3&quot; unique_id=&quot;12966&quot;&gt;&lt;property id=&quot;20148&quot; value=&quot;5&quot;/&gt;&lt;property id=&quot;20300&quot; value=&quot;Slide 25&quot;/&gt;&lt;property id=&quot;20307&quot; value=&quot;312&quot;/&gt;&lt;/object&gt;&lt;object type=&quot;3&quot; unique_id=&quot;13132&quot;&gt;&lt;property id=&quot;20148&quot; value=&quot;5&quot;/&gt;&lt;property id=&quot;20300&quot; value=&quot;Slide 27&quot;/&gt;&lt;property id=&quot;20307&quot; value=&quot;313&quot;/&gt;&lt;/object&gt;&lt;object type=&quot;3&quot; unique_id=&quot;13507&quot;&gt;&lt;property id=&quot;20148&quot; value=&quot;5&quot;/&gt;&lt;property id=&quot;20300&quot; value=&quot;Slide 28&quot;/&gt;&lt;property id=&quot;20307&quot; value=&quot;314&quot;/&gt;&lt;/object&gt;&lt;object type=&quot;3&quot; unique_id=&quot;13613&quot;&gt;&lt;property id=&quot;20148&quot; value=&quot;5&quot;/&gt;&lt;property id=&quot;20300&quot; value=&quot;Slide 29&quot;/&gt;&lt;property id=&quot;20307&quot; value=&quot;315&quot;/&gt;&lt;/object&gt;&lt;object type=&quot;3&quot; unique_id=&quot;14006&quot;&gt;&lt;property id=&quot;20148&quot; value=&quot;5&quot;/&gt;&lt;property id=&quot;20300&quot; value=&quot;Slide 30&quot;/&gt;&lt;property id=&quot;20307&quot; value=&quot;31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TK_LT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TK_LTW</Template>
  <TotalTime>1473</TotalTime>
  <Words>750</Words>
  <Application>Microsoft Office PowerPoint</Application>
  <PresentationFormat>On-screen Show (4:3)</PresentationFormat>
  <Paragraphs>219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TK_LTW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Loan Phan</dc:creator>
  <cp:lastModifiedBy>nguyen thanh sang</cp:lastModifiedBy>
  <cp:revision>62</cp:revision>
  <dcterms:created xsi:type="dcterms:W3CDTF">2009-04-06T22:50:23Z</dcterms:created>
  <dcterms:modified xsi:type="dcterms:W3CDTF">2020-04-25T06:40:13Z</dcterms:modified>
</cp:coreProperties>
</file>